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profesor y compañeros. Nuestro grupo presenta el Trabajo Parcial del curso de Hacking Ético: el desarrollo y análisis de un Keylogger Educativo. Nuestro objetivo no es construir una herramienta ofensiva, sino comprender a profundidad cómo funciona esta amenaza para poder defendernos de ella. En los próximos minutos veremos qué es, cómo funciona por dentro, el vector de ataque realista y las recomendaciones de defensa.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exposición cubre ocho bloques: primero definimos qué es un keylogger y vemos sus tipos; aclaramos el marco legal peruano; explicamos cómo funciona por dentro y la arquitectura del proyecto; mostramos el vector de ataque real; hacemos una demostración; presentamos el panel web local y cerramos con las recomendaciones de defensa y las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keylogger viene de las palabras 'key' (tecla) y 'logger' (registrador). Es un programa o un dispositivo que captura cada pulsación del teclado. Lo que lo hace particularmente peligroso es que captura la información antes de que se cifre, por lo que incluso cuando ingresamos una contraseña en una página HTTPS, el keylogger la ve en texto plano. Hay dos tipos: el de software, que es el que desarrollamos nosotros, y el de hardware, que es un dispositivo físico y no lo detecta ningún antivirus.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importante entender que un keylogger no es ilegal por sí mismo: lo que lo hace ilegal es usarlo sin consentimiento. Existen usos legítimos como el control parental, el monitoreo corporativo autorizado y la investigación académica, que es nuestro caso. En el Perú, la Ley N.° 30096 de Delitos Informáticos, modificada por la 30171, sanciona el espionaje de información digital. Por eso nuestro programa pide confirmación explícita antes de arrancar y nunca envía nada por la 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programa sigue siete pasos. Primero muestra un aviso ético y exige que el usuario confirme con sí o no. Carga la configuración. Luego usa la librería pynput, que registra un Listener que recibe cada evento de tecla. En el formateo clasificamos si es un carácter normal, una tecla especial como Enter, o una combinación como Ctrl+C. Agregamos el contexto: en qué ventana estaba el usuario y a qué hora. Lo guardamos en dos archivos locales. Y finalmente, la captura se detiene con la tecla ESC.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proyecto está dividido en seis módulos, cada uno con una responsabilidad clara: keylogger.py orquesta todo el ciclo de vida. captura.py se encarga de clasificar las teclas. registro.py escribe los archivos. ventana.py obtiene el título de la ventana activa. config.py valida la configuración. Y dashboard.py sirve el panel web local. Separar así permite probar la lógica con pytest sin necesidad de un teclado físico, porque simulamos los eventos.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corazón del programa. La función _on_press se dispara con cada tecla. Primero revisa si es la tecla de salida; si lo es, detiene el listener de forma ordenada. Luego revisa si es la tecla de pausa. Si está en pausa, ignora el evento. Un detalle importante: antes de registrar, consultamos la ventana activa; si es un gestor de contraseñas, no registramos nada. Esta es una decisión ética de minimización de datos.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explicar cómo llega el keylogger a la víctima usamos el modelo Cyber Kill Chain de Lockheed Martin. Son siete fases: reconocimiento, preparación del arma, entrega, explotación, instalación, comando y control con exfiltración, y acciones sobre el objetivo. Las fases marcadas en rojo son las que un malware real sí haría pero nuestro proyecto NO: no empaquetamos un dropper, no lo entregamos por phishing, no persiste en el sistema y no envía nada por la red. Esas fases las explicamos a nivel conceptual, no viven en el código.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la demo lanzamos el programa, aceptamos el aviso ético y mostramos cómo el indicador queda visible todo el tiempo. Escribimos texto en el Bloc de notas y en el navegador. Luego abrimos un gestor de contraseñas (Bitwarden) y mostramos cómo la captura se detiene automáticamente —esto es la minimización de datos—. Presionamos ESC y mostramos el archivo registro_teclas.txt. Si por algún motivo falla la demo en vivo, mostraremos el video pregrabado que subimos a YouTube.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Además del keylogger, desarrollamos un panel web local que ayuda a analizar los registros capturados. Es un servidor Python que corre en localhost, sin ninguna dependencia externa. Tiene tarjetas con métricas totales, gráficos SVG hechos en JavaScript puro, una línea de tiempo de cada sesión y una tabla por ventana con el texto reconstruido. Lo importante: el panel solo lee los registros, no captura nada por sí mismo y no envía información fuera del equipo.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asegurar que el código funciona bien escribimos pruebas automatizadas con pytest. Más de veinte casos, cubriendo caracteres normales, mayúsculas con Shift, símbolos con AltGr —muy importante en teclados latinos—, teclas muertas que forman acentos, combinaciones con modificadores, serialización a JSON y la carga de configuración. Todas pasan.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Haber visto la amenaza por dentro nos permite priorizar las defensas. La más importante es la autenticación multifactor: aunque un atacante robe la contraseña con un keylogger, no podrá entrar sin el segundo factor. Un antivirus moderno con análisis de comportamiento ayuda a detectar programas sospechosos. Usar gestores de contraseñas reduce el riesgo porque no estamos tecleando la contraseña real. Y la concientización del usuario es, por mucho, la medida más costo-efectiva.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Cuatro conclusiones principales. Primero, un keylogger es muy accesible de construir, lo que lo convierte en una herramienta común en ataques reales. Segundo, usa mecanismos legítimos del sistema operativo, por lo que puede pasar desapercibido. Tercero, el mayor riesgo no está en el código sino en el vector de ataque: la ingeniería social. Y cuarto, haber estudiado la amenaza desde dentro nos permite diseñar mejores defensas, que es el objetivo final de este curso.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Muchas gracias por su atención. Los dejamos con el enlace del repositorio en GitHub, donde pueden revisar todo el código, los tests, el panel web y la documentación. Quedamos atentos a sus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3B6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9144000" cy="365760"/>
          </a:xfrm>
          <a:prstGeom prst="rect">
            <a:avLst/>
          </a:prstGeom>
          <a:noFill/>
        </p:spPr>
        <p:txBody>
          <a:bodyPr wrap="square" lIns="0" rIns="0" tIns="0" bIns="0" anchor="t">
            <a:spAutoFit/>
          </a:bodyPr>
          <a:lstStyle/>
          <a:p>
            <a:pPr algn="l"/>
            <a:r>
              <a:rPr sz="1300" b="1" i="0">
                <a:solidFill>
                  <a:srgbClr val="F2A63B"/>
                </a:solidFill>
                <a:latin typeface="Calibri"/>
              </a:rPr>
              <a:t>UNIVERSIDAD PERUANA DE CIENCIAS APLICADAS</a:t>
            </a:r>
          </a:p>
        </p:txBody>
      </p:sp>
      <p:sp>
        <p:nvSpPr>
          <p:cNvPr id="5" name="TextBox 4"/>
          <p:cNvSpPr txBox="1"/>
          <p:nvPr/>
        </p:nvSpPr>
        <p:spPr>
          <a:xfrm>
            <a:off x="548640" y="914400"/>
            <a:ext cx="9144000" cy="365760"/>
          </a:xfrm>
          <a:prstGeom prst="rect">
            <a:avLst/>
          </a:prstGeom>
          <a:noFill/>
        </p:spPr>
        <p:txBody>
          <a:bodyPr wrap="square" lIns="0" rIns="0" tIns="0" bIns="0" anchor="t">
            <a:spAutoFit/>
          </a:bodyPr>
          <a:lstStyle/>
          <a:p>
            <a:pPr algn="l"/>
            <a:r>
              <a:rPr sz="1100" b="0" i="0">
                <a:solidFill>
                  <a:srgbClr val="C2CDDE"/>
                </a:solidFill>
                <a:latin typeface="Calibri"/>
              </a:rPr>
              <a:t>FACULTAD DE INGENIERÍA  ·  CURSO DE HACKING ÉTICO</a:t>
            </a:r>
          </a:p>
        </p:txBody>
      </p:sp>
      <p:sp>
        <p:nvSpPr>
          <p:cNvPr id="6" name="TextBox 5"/>
          <p:cNvSpPr txBox="1"/>
          <p:nvPr/>
        </p:nvSpPr>
        <p:spPr>
          <a:xfrm>
            <a:off x="548640" y="2194560"/>
            <a:ext cx="10972800" cy="548640"/>
          </a:xfrm>
          <a:prstGeom prst="rect">
            <a:avLst/>
          </a:prstGeom>
          <a:noFill/>
        </p:spPr>
        <p:txBody>
          <a:bodyPr wrap="square" lIns="0" rIns="0" tIns="0" bIns="0" anchor="t">
            <a:spAutoFit/>
          </a:bodyPr>
          <a:lstStyle/>
          <a:p>
            <a:pPr algn="l"/>
            <a:r>
              <a:rPr sz="2200" b="1" i="0">
                <a:solidFill>
                  <a:srgbClr val="F4F6FB"/>
                </a:solidFill>
                <a:latin typeface="Calibri"/>
              </a:rPr>
              <a:t>TRABAJO PARCIAL</a:t>
            </a:r>
          </a:p>
        </p:txBody>
      </p:sp>
      <p:sp>
        <p:nvSpPr>
          <p:cNvPr id="7" name="TextBox 6"/>
          <p:cNvSpPr txBox="1"/>
          <p:nvPr/>
        </p:nvSpPr>
        <p:spPr>
          <a:xfrm>
            <a:off x="548640" y="2743200"/>
            <a:ext cx="10972800" cy="1280160"/>
          </a:xfrm>
          <a:prstGeom prst="rect">
            <a:avLst/>
          </a:prstGeom>
          <a:noFill/>
        </p:spPr>
        <p:txBody>
          <a:bodyPr wrap="square" lIns="0" rIns="0" tIns="0" bIns="0" anchor="t">
            <a:spAutoFit/>
          </a:bodyPr>
          <a:lstStyle/>
          <a:p>
            <a:pPr algn="l"/>
            <a:r>
              <a:rPr sz="5800" b="1" i="0">
                <a:solidFill>
                  <a:srgbClr val="F4F6FB"/>
                </a:solidFill>
                <a:latin typeface="Calibri"/>
              </a:rPr>
              <a:t>KEYLOGGER EDUCATIVO</a:t>
            </a:r>
          </a:p>
        </p:txBody>
      </p:sp>
      <p:sp>
        <p:nvSpPr>
          <p:cNvPr id="8" name="TextBox 7"/>
          <p:cNvSpPr txBox="1"/>
          <p:nvPr/>
        </p:nvSpPr>
        <p:spPr>
          <a:xfrm>
            <a:off x="548640" y="4023360"/>
            <a:ext cx="10972800" cy="548640"/>
          </a:xfrm>
          <a:prstGeom prst="rect">
            <a:avLst/>
          </a:prstGeom>
          <a:noFill/>
        </p:spPr>
        <p:txBody>
          <a:bodyPr wrap="square" lIns="0" rIns="0" tIns="0" bIns="0" anchor="t">
            <a:spAutoFit/>
          </a:bodyPr>
          <a:lstStyle/>
          <a:p>
            <a:pPr algn="l"/>
            <a:r>
              <a:rPr sz="1800" b="0" i="1">
                <a:solidFill>
                  <a:srgbClr val="C2CDDE"/>
                </a:solidFill>
                <a:latin typeface="Calibri"/>
              </a:rPr>
              <a:t>Desarrollo y análisis de un registrador de teclas con fines académicos</a:t>
            </a:r>
          </a:p>
        </p:txBody>
      </p:sp>
      <p:sp>
        <p:nvSpPr>
          <p:cNvPr id="9" name="TextBox 8"/>
          <p:cNvSpPr txBox="1"/>
          <p:nvPr/>
        </p:nvSpPr>
        <p:spPr>
          <a:xfrm>
            <a:off x="548640" y="5029200"/>
            <a:ext cx="7315200" cy="1371600"/>
          </a:xfrm>
          <a:prstGeom prst="rect">
            <a:avLst/>
          </a:prstGeom>
          <a:noFill/>
        </p:spPr>
        <p:txBody>
          <a:bodyPr wrap="square" anchor="t" lIns="0" rIns="0" tIns="0" bIns="0">
            <a:spAutoFit/>
          </a:bodyPr>
          <a:lstStyle/>
          <a:p>
            <a:pPr algn="l">
              <a:lnSpc>
                <a:spcPct val="125000"/>
              </a:lnSpc>
            </a:pPr>
            <a:r>
              <a:rPr sz="1100" b="1" i="0">
                <a:solidFill>
                  <a:srgbClr val="F2A63B"/>
                </a:solidFill>
                <a:latin typeface="Calibri"/>
              </a:rPr>
              <a:t>INTEGRANTES</a:t>
            </a:r>
          </a:p>
          <a:p>
            <a:pPr algn="l">
              <a:lnSpc>
                <a:spcPct val="125000"/>
              </a:lnSpc>
              <a:spcBef>
                <a:spcPts val="400"/>
              </a:spcBef>
            </a:pPr>
            <a:r>
              <a:rPr sz="1300" b="0" i="0">
                <a:solidFill>
                  <a:srgbClr val="F4F6FB"/>
                </a:solidFill>
                <a:latin typeface="Calibri"/>
              </a:rPr>
              <a:t>Chile Quiroga, Hildemaro — U20251H491</a:t>
            </a:r>
          </a:p>
          <a:p>
            <a:pPr algn="l">
              <a:lnSpc>
                <a:spcPct val="125000"/>
              </a:lnSpc>
            </a:pPr>
            <a:r>
              <a:rPr sz="1300" b="0" i="0">
                <a:solidFill>
                  <a:srgbClr val="F4F6FB"/>
                </a:solidFill>
                <a:latin typeface="Calibri"/>
              </a:rPr>
              <a:t>Gutierrez Mejia, Veckler — U20251D272</a:t>
            </a:r>
          </a:p>
        </p:txBody>
      </p:sp>
      <p:sp>
        <p:nvSpPr>
          <p:cNvPr id="10" name="TextBox 9"/>
          <p:cNvSpPr txBox="1"/>
          <p:nvPr/>
        </p:nvSpPr>
        <p:spPr>
          <a:xfrm>
            <a:off x="8046720" y="5029200"/>
            <a:ext cx="4114800" cy="1371600"/>
          </a:xfrm>
          <a:prstGeom prst="rect">
            <a:avLst/>
          </a:prstGeom>
          <a:noFill/>
        </p:spPr>
        <p:txBody>
          <a:bodyPr wrap="square" anchor="t" lIns="0" rIns="0" tIns="0" bIns="0">
            <a:spAutoFit/>
          </a:bodyPr>
          <a:lstStyle/>
          <a:p>
            <a:pPr algn="r">
              <a:lnSpc>
                <a:spcPct val="125000"/>
              </a:lnSpc>
            </a:pPr>
            <a:r>
              <a:rPr sz="1100" b="1" i="0">
                <a:solidFill>
                  <a:srgbClr val="F2A63B"/>
                </a:solidFill>
                <a:latin typeface="Calibri"/>
              </a:rPr>
              <a:t>DOCENTE</a:t>
            </a:r>
          </a:p>
          <a:p>
            <a:pPr algn="r">
              <a:lnSpc>
                <a:spcPct val="125000"/>
              </a:lnSpc>
              <a:spcBef>
                <a:spcPts val="400"/>
              </a:spcBef>
            </a:pPr>
            <a:r>
              <a:rPr sz="1300" b="0" i="0">
                <a:solidFill>
                  <a:srgbClr val="F4F6FB"/>
                </a:solidFill>
                <a:latin typeface="Calibri"/>
              </a:rPr>
              <a:t>Custodio Chavarría, Gianpaul Jesús</a:t>
            </a:r>
          </a:p>
          <a:p>
            <a:pPr algn="r">
              <a:lnSpc>
                <a:spcPct val="125000"/>
              </a:lnSpc>
              <a:spcBef>
                <a:spcPts val="400"/>
              </a:spcBef>
            </a:pPr>
            <a:r>
              <a:rPr sz="1100" b="0" i="1">
                <a:solidFill>
                  <a:srgbClr val="C2CDDE"/>
                </a:solidFill>
                <a:latin typeface="Calibri"/>
              </a:rPr>
              <a:t>Lima, octubre 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CONTENIDO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Agenda de la exposición</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2 / 14</a:t>
            </a:r>
          </a:p>
        </p:txBody>
      </p:sp>
      <p:sp>
        <p:nvSpPr>
          <p:cNvPr id="8" name="Rectangle 7"/>
          <p:cNvSpPr/>
          <p:nvPr/>
        </p:nvSpPr>
        <p:spPr>
          <a:xfrm>
            <a:off x="548640" y="196596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01</a:t>
            </a:r>
          </a:p>
        </p:txBody>
      </p:sp>
      <p:sp>
        <p:nvSpPr>
          <p:cNvPr id="10" name="Rectangle 9"/>
          <p:cNvSpPr/>
          <p:nvPr/>
        </p:nvSpPr>
        <p:spPr>
          <a:xfrm>
            <a:off x="1097280" y="196596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1965960"/>
            <a:ext cx="4480560" cy="502920"/>
          </a:xfrm>
          <a:prstGeom prst="rect">
            <a:avLst/>
          </a:prstGeom>
          <a:noFill/>
        </p:spPr>
        <p:txBody>
          <a:bodyPr wrap="square" lIns="0" rIns="0" tIns="0" bIns="0" anchor="ctr">
            <a:spAutoFit/>
          </a:bodyPr>
          <a:lstStyle/>
          <a:p>
            <a:pPr algn="l"/>
            <a:r>
              <a:rPr sz="1500" b="0" i="0">
                <a:solidFill>
                  <a:srgbClr val="F4F6FB"/>
                </a:solidFill>
                <a:latin typeface="Calibri"/>
              </a:rPr>
              <a:t>Definición y tipos</a:t>
            </a:r>
          </a:p>
        </p:txBody>
      </p:sp>
      <p:sp>
        <p:nvSpPr>
          <p:cNvPr id="12" name="Rectangle 11"/>
          <p:cNvSpPr/>
          <p:nvPr/>
        </p:nvSpPr>
        <p:spPr>
          <a:xfrm>
            <a:off x="6035040" y="196596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196596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02</a:t>
            </a:r>
          </a:p>
        </p:txBody>
      </p:sp>
      <p:sp>
        <p:nvSpPr>
          <p:cNvPr id="14" name="Rectangle 13"/>
          <p:cNvSpPr/>
          <p:nvPr/>
        </p:nvSpPr>
        <p:spPr>
          <a:xfrm>
            <a:off x="6583680" y="196596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965960"/>
            <a:ext cx="4480560" cy="502920"/>
          </a:xfrm>
          <a:prstGeom prst="rect">
            <a:avLst/>
          </a:prstGeom>
          <a:noFill/>
        </p:spPr>
        <p:txBody>
          <a:bodyPr wrap="square" lIns="0" rIns="0" tIns="0" bIns="0" anchor="ctr">
            <a:spAutoFit/>
          </a:bodyPr>
          <a:lstStyle/>
          <a:p>
            <a:pPr algn="l"/>
            <a:r>
              <a:rPr sz="1500" b="0" i="0">
                <a:solidFill>
                  <a:srgbClr val="F4F6FB"/>
                </a:solidFill>
                <a:latin typeface="Calibri"/>
              </a:rPr>
              <a:t>Marco legal (Ley 30096)</a:t>
            </a:r>
          </a:p>
        </p:txBody>
      </p:sp>
      <p:sp>
        <p:nvSpPr>
          <p:cNvPr id="16" name="Rectangle 15"/>
          <p:cNvSpPr/>
          <p:nvPr/>
        </p:nvSpPr>
        <p:spPr>
          <a:xfrm>
            <a:off x="548640" y="260604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0604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03</a:t>
            </a:r>
          </a:p>
        </p:txBody>
      </p:sp>
      <p:sp>
        <p:nvSpPr>
          <p:cNvPr id="18" name="Rectangle 17"/>
          <p:cNvSpPr/>
          <p:nvPr/>
        </p:nvSpPr>
        <p:spPr>
          <a:xfrm>
            <a:off x="1097280" y="260604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80160" y="2606040"/>
            <a:ext cx="4480560" cy="502920"/>
          </a:xfrm>
          <a:prstGeom prst="rect">
            <a:avLst/>
          </a:prstGeom>
          <a:noFill/>
        </p:spPr>
        <p:txBody>
          <a:bodyPr wrap="square" lIns="0" rIns="0" tIns="0" bIns="0" anchor="ctr">
            <a:spAutoFit/>
          </a:bodyPr>
          <a:lstStyle/>
          <a:p>
            <a:pPr algn="l"/>
            <a:r>
              <a:rPr sz="1500" b="0" i="0">
                <a:solidFill>
                  <a:srgbClr val="F4F6FB"/>
                </a:solidFill>
                <a:latin typeface="Calibri"/>
              </a:rPr>
              <a:t>¿Cómo funciona?</a:t>
            </a:r>
          </a:p>
        </p:txBody>
      </p:sp>
      <p:sp>
        <p:nvSpPr>
          <p:cNvPr id="20" name="Rectangle 19"/>
          <p:cNvSpPr/>
          <p:nvPr/>
        </p:nvSpPr>
        <p:spPr>
          <a:xfrm>
            <a:off x="6035040" y="260604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260604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04</a:t>
            </a:r>
          </a:p>
        </p:txBody>
      </p:sp>
      <p:sp>
        <p:nvSpPr>
          <p:cNvPr id="22" name="Rectangle 21"/>
          <p:cNvSpPr/>
          <p:nvPr/>
        </p:nvSpPr>
        <p:spPr>
          <a:xfrm>
            <a:off x="6583680" y="260604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2606040"/>
            <a:ext cx="4480560" cy="502920"/>
          </a:xfrm>
          <a:prstGeom prst="rect">
            <a:avLst/>
          </a:prstGeom>
          <a:noFill/>
        </p:spPr>
        <p:txBody>
          <a:bodyPr wrap="square" lIns="0" rIns="0" tIns="0" bIns="0" anchor="ctr">
            <a:spAutoFit/>
          </a:bodyPr>
          <a:lstStyle/>
          <a:p>
            <a:pPr algn="l"/>
            <a:r>
              <a:rPr sz="1500" b="0" i="0">
                <a:solidFill>
                  <a:srgbClr val="F4F6FB"/>
                </a:solidFill>
                <a:latin typeface="Calibri"/>
              </a:rPr>
              <a:t>Arquitectura del proyecto</a:t>
            </a:r>
          </a:p>
        </p:txBody>
      </p:sp>
      <p:sp>
        <p:nvSpPr>
          <p:cNvPr id="24" name="Rectangle 23"/>
          <p:cNvSpPr/>
          <p:nvPr/>
        </p:nvSpPr>
        <p:spPr>
          <a:xfrm>
            <a:off x="548640" y="324612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24612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05</a:t>
            </a:r>
          </a:p>
        </p:txBody>
      </p:sp>
      <p:sp>
        <p:nvSpPr>
          <p:cNvPr id="26" name="Rectangle 25"/>
          <p:cNvSpPr/>
          <p:nvPr/>
        </p:nvSpPr>
        <p:spPr>
          <a:xfrm>
            <a:off x="1097280" y="324612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3246120"/>
            <a:ext cx="4480560" cy="502920"/>
          </a:xfrm>
          <a:prstGeom prst="rect">
            <a:avLst/>
          </a:prstGeom>
          <a:noFill/>
        </p:spPr>
        <p:txBody>
          <a:bodyPr wrap="square" lIns="0" rIns="0" tIns="0" bIns="0" anchor="ctr">
            <a:spAutoFit/>
          </a:bodyPr>
          <a:lstStyle/>
          <a:p>
            <a:pPr algn="l"/>
            <a:r>
              <a:rPr sz="1500" b="0" i="0">
                <a:solidFill>
                  <a:srgbClr val="F4F6FB"/>
                </a:solidFill>
                <a:latin typeface="Calibri"/>
              </a:rPr>
              <a:t>Vector de ataque</a:t>
            </a:r>
          </a:p>
        </p:txBody>
      </p:sp>
      <p:sp>
        <p:nvSpPr>
          <p:cNvPr id="28" name="Rectangle 27"/>
          <p:cNvSpPr/>
          <p:nvPr/>
        </p:nvSpPr>
        <p:spPr>
          <a:xfrm>
            <a:off x="6035040" y="324612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35040" y="324612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06</a:t>
            </a:r>
          </a:p>
        </p:txBody>
      </p:sp>
      <p:sp>
        <p:nvSpPr>
          <p:cNvPr id="30" name="Rectangle 29"/>
          <p:cNvSpPr/>
          <p:nvPr/>
        </p:nvSpPr>
        <p:spPr>
          <a:xfrm>
            <a:off x="6583680" y="324612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3246120"/>
            <a:ext cx="4480560" cy="502920"/>
          </a:xfrm>
          <a:prstGeom prst="rect">
            <a:avLst/>
          </a:prstGeom>
          <a:noFill/>
        </p:spPr>
        <p:txBody>
          <a:bodyPr wrap="square" lIns="0" rIns="0" tIns="0" bIns="0" anchor="ctr">
            <a:spAutoFit/>
          </a:bodyPr>
          <a:lstStyle/>
          <a:p>
            <a:pPr algn="l"/>
            <a:r>
              <a:rPr sz="1500" b="0" i="0">
                <a:solidFill>
                  <a:srgbClr val="F4F6FB"/>
                </a:solidFill>
                <a:latin typeface="Calibri"/>
              </a:rPr>
              <a:t>Demostración</a:t>
            </a:r>
          </a:p>
        </p:txBody>
      </p:sp>
      <p:sp>
        <p:nvSpPr>
          <p:cNvPr id="32" name="Rectangle 31"/>
          <p:cNvSpPr/>
          <p:nvPr/>
        </p:nvSpPr>
        <p:spPr>
          <a:xfrm>
            <a:off x="548640" y="388620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88620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07</a:t>
            </a:r>
          </a:p>
        </p:txBody>
      </p:sp>
      <p:sp>
        <p:nvSpPr>
          <p:cNvPr id="34" name="Rectangle 33"/>
          <p:cNvSpPr/>
          <p:nvPr/>
        </p:nvSpPr>
        <p:spPr>
          <a:xfrm>
            <a:off x="1097280" y="388620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80160" y="3886200"/>
            <a:ext cx="4480560" cy="502920"/>
          </a:xfrm>
          <a:prstGeom prst="rect">
            <a:avLst/>
          </a:prstGeom>
          <a:noFill/>
        </p:spPr>
        <p:txBody>
          <a:bodyPr wrap="square" lIns="0" rIns="0" tIns="0" bIns="0" anchor="ctr">
            <a:spAutoFit/>
          </a:bodyPr>
          <a:lstStyle/>
          <a:p>
            <a:pPr algn="l"/>
            <a:r>
              <a:rPr sz="1500" b="0" i="0">
                <a:solidFill>
                  <a:srgbClr val="F4F6FB"/>
                </a:solidFill>
                <a:latin typeface="Calibri"/>
              </a:rPr>
              <a:t>Panel web local</a:t>
            </a:r>
          </a:p>
        </p:txBody>
      </p:sp>
      <p:sp>
        <p:nvSpPr>
          <p:cNvPr id="36" name="Rectangle 35"/>
          <p:cNvSpPr/>
          <p:nvPr/>
        </p:nvSpPr>
        <p:spPr>
          <a:xfrm>
            <a:off x="6035040" y="3886200"/>
            <a:ext cx="548640" cy="50292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3886200"/>
            <a:ext cx="548640" cy="502920"/>
          </a:xfrm>
          <a:prstGeom prst="rect">
            <a:avLst/>
          </a:prstGeom>
          <a:noFill/>
        </p:spPr>
        <p:txBody>
          <a:bodyPr wrap="square" lIns="0" rIns="0" tIns="0" bIns="0" anchor="ctr">
            <a:spAutoFit/>
          </a:bodyPr>
          <a:lstStyle/>
          <a:p>
            <a:pPr algn="ctr"/>
            <a:r>
              <a:rPr sz="1800" b="1" i="0">
                <a:solidFill>
                  <a:srgbClr val="F2A63B"/>
                </a:solidFill>
                <a:latin typeface="Calibri"/>
              </a:rPr>
              <a:t>08</a:t>
            </a:r>
          </a:p>
        </p:txBody>
      </p:sp>
      <p:sp>
        <p:nvSpPr>
          <p:cNvPr id="38" name="Rectangle 37"/>
          <p:cNvSpPr/>
          <p:nvPr/>
        </p:nvSpPr>
        <p:spPr>
          <a:xfrm>
            <a:off x="6583680" y="3886200"/>
            <a:ext cx="46634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0" y="3886200"/>
            <a:ext cx="4480560" cy="502920"/>
          </a:xfrm>
          <a:prstGeom prst="rect">
            <a:avLst/>
          </a:prstGeom>
          <a:noFill/>
        </p:spPr>
        <p:txBody>
          <a:bodyPr wrap="square" lIns="0" rIns="0" tIns="0" bIns="0" anchor="ctr">
            <a:spAutoFit/>
          </a:bodyPr>
          <a:lstStyle/>
          <a:p>
            <a:pPr algn="l"/>
            <a:r>
              <a:rPr sz="1500" b="0" i="0">
                <a:solidFill>
                  <a:srgbClr val="F4F6FB"/>
                </a:solidFill>
                <a:latin typeface="Calibri"/>
              </a:rPr>
              <a:t>Defensa y conclusiones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01 · CONCEPTO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¿Qué es un Keylogger?</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3 / 14</a:t>
            </a:r>
          </a:p>
        </p:txBody>
      </p:sp>
      <p:sp>
        <p:nvSpPr>
          <p:cNvPr id="8" name="TextBox 7"/>
          <p:cNvSpPr txBox="1"/>
          <p:nvPr/>
        </p:nvSpPr>
        <p:spPr>
          <a:xfrm>
            <a:off x="548640" y="1783080"/>
            <a:ext cx="5486400" cy="2286000"/>
          </a:xfrm>
          <a:prstGeom prst="rect">
            <a:avLst/>
          </a:prstGeom>
          <a:noFill/>
        </p:spPr>
        <p:txBody>
          <a:bodyPr wrap="square" anchor="t" lIns="0" rIns="0" tIns="0" bIns="0">
            <a:spAutoFit/>
          </a:bodyPr>
          <a:lstStyle/>
          <a:p>
            <a:pPr algn="l">
              <a:lnSpc>
                <a:spcPct val="125000"/>
              </a:lnSpc>
            </a:pPr>
            <a:r>
              <a:rPr sz="1500" b="0" i="0">
                <a:solidFill>
                  <a:srgbClr val="F4F6FB"/>
                </a:solidFill>
                <a:latin typeface="Calibri"/>
              </a:rPr>
              <a:t>Software o hardware que captura y almacena las pulsaciones del teclado de un usuario, incluyendo contraseñas, mensajes y datos sensibles.</a:t>
            </a:r>
          </a:p>
          <a:p>
            <a:pPr algn="l">
              <a:lnSpc>
                <a:spcPct val="125000"/>
              </a:lnSpc>
              <a:spcBef>
                <a:spcPts val="1000"/>
              </a:spcBef>
            </a:pPr>
            <a:r>
              <a:rPr sz="1300" b="0" i="1">
                <a:solidFill>
                  <a:srgbClr val="C2CDDE"/>
                </a:solidFill>
                <a:latin typeface="Calibri"/>
              </a:rPr>
              <a:t>Intercepta la información antes de cualquier cifrado: incluso datos tecleados en HTTPS pueden quedar expuestos si el equipo está comprometido.</a:t>
            </a:r>
          </a:p>
        </p:txBody>
      </p:sp>
      <p:sp>
        <p:nvSpPr>
          <p:cNvPr id="9" name="TextBox 8"/>
          <p:cNvSpPr txBox="1"/>
          <p:nvPr/>
        </p:nvSpPr>
        <p:spPr>
          <a:xfrm>
            <a:off x="548640" y="4160520"/>
            <a:ext cx="5486400" cy="365760"/>
          </a:xfrm>
          <a:prstGeom prst="rect">
            <a:avLst/>
          </a:prstGeom>
          <a:noFill/>
        </p:spPr>
        <p:txBody>
          <a:bodyPr wrap="square" lIns="0" rIns="0" tIns="0" bIns="0" anchor="t">
            <a:spAutoFit/>
          </a:bodyPr>
          <a:lstStyle/>
          <a:p>
            <a:pPr algn="l"/>
            <a:r>
              <a:rPr sz="1400" b="1" i="0">
                <a:solidFill>
                  <a:srgbClr val="F2A63B"/>
                </a:solidFill>
                <a:latin typeface="Calibri"/>
              </a:rPr>
              <a:t>Dos grandes categorías:</a:t>
            </a:r>
          </a:p>
        </p:txBody>
      </p:sp>
      <p:sp>
        <p:nvSpPr>
          <p:cNvPr id="10" name="Rectangle 9"/>
          <p:cNvSpPr/>
          <p:nvPr/>
        </p:nvSpPr>
        <p:spPr>
          <a:xfrm>
            <a:off x="548640" y="4617720"/>
            <a:ext cx="5486400" cy="146304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709160"/>
            <a:ext cx="731520" cy="640080"/>
          </a:xfrm>
          <a:prstGeom prst="rect">
            <a:avLst/>
          </a:prstGeom>
          <a:noFill/>
        </p:spPr>
        <p:txBody>
          <a:bodyPr wrap="square" lIns="0" rIns="0" tIns="0" bIns="0" anchor="t">
            <a:spAutoFit/>
          </a:bodyPr>
          <a:lstStyle/>
          <a:p>
            <a:pPr algn="l"/>
            <a:r>
              <a:rPr sz="3600" b="1" i="0">
                <a:solidFill>
                  <a:srgbClr val="F2A63B"/>
                </a:solidFill>
                <a:latin typeface="Calibri"/>
              </a:rPr>
              <a:t>S</a:t>
            </a:r>
          </a:p>
        </p:txBody>
      </p:sp>
      <p:sp>
        <p:nvSpPr>
          <p:cNvPr id="12" name="TextBox 11"/>
          <p:cNvSpPr txBox="1"/>
          <p:nvPr/>
        </p:nvSpPr>
        <p:spPr>
          <a:xfrm>
            <a:off x="1527048" y="4754880"/>
            <a:ext cx="4306824" cy="411480"/>
          </a:xfrm>
          <a:prstGeom prst="rect">
            <a:avLst/>
          </a:prstGeom>
          <a:noFill/>
        </p:spPr>
        <p:txBody>
          <a:bodyPr wrap="square" lIns="0" rIns="0" tIns="0" bIns="0" anchor="t">
            <a:spAutoFit/>
          </a:bodyPr>
          <a:lstStyle/>
          <a:p>
            <a:pPr algn="l"/>
            <a:r>
              <a:rPr sz="1500" b="1" i="0">
                <a:solidFill>
                  <a:srgbClr val="F4F6FB"/>
                </a:solidFill>
                <a:latin typeface="Calibri"/>
              </a:rPr>
              <a:t>Software</a:t>
            </a:r>
          </a:p>
        </p:txBody>
      </p:sp>
      <p:sp>
        <p:nvSpPr>
          <p:cNvPr id="13" name="TextBox 12"/>
          <p:cNvSpPr txBox="1"/>
          <p:nvPr/>
        </p:nvSpPr>
        <p:spPr>
          <a:xfrm>
            <a:off x="749808" y="5303520"/>
            <a:ext cx="5084064" cy="685800"/>
          </a:xfrm>
          <a:prstGeom prst="rect">
            <a:avLst/>
          </a:prstGeom>
          <a:noFill/>
        </p:spPr>
        <p:txBody>
          <a:bodyPr wrap="square" lIns="0" rIns="0" tIns="0" bIns="0" anchor="t">
            <a:spAutoFit/>
          </a:bodyPr>
          <a:lstStyle/>
          <a:p>
            <a:pPr algn="l"/>
            <a:r>
              <a:rPr sz="1200" b="0" i="0">
                <a:solidFill>
                  <a:srgbClr val="C2CDDE"/>
                </a:solidFill>
                <a:latin typeface="Calibri"/>
              </a:rPr>
              <a:t>Programa que se engancha a los eventos del SO. Detectable con antivirus / EDR. Es el tipo desarrollado en este trabajo.</a:t>
            </a:r>
          </a:p>
        </p:txBody>
      </p:sp>
      <p:sp>
        <p:nvSpPr>
          <p:cNvPr id="14" name="Rectangle 13"/>
          <p:cNvSpPr/>
          <p:nvPr/>
        </p:nvSpPr>
        <p:spPr>
          <a:xfrm>
            <a:off x="6675120" y="1783080"/>
            <a:ext cx="4937760" cy="4297680"/>
          </a:xfrm>
          <a:prstGeom prst="rect">
            <a:avLst/>
          </a:prstGeom>
          <a:solidFill>
            <a:srgbClr val="142A4A"/>
          </a:solidFill>
          <a:ln w="12700">
            <a:solidFill>
              <a:srgbClr val="F2A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76288" y="1874520"/>
            <a:ext cx="731520" cy="640080"/>
          </a:xfrm>
          <a:prstGeom prst="rect">
            <a:avLst/>
          </a:prstGeom>
          <a:noFill/>
        </p:spPr>
        <p:txBody>
          <a:bodyPr wrap="square" lIns="0" rIns="0" tIns="0" bIns="0" anchor="t">
            <a:spAutoFit/>
          </a:bodyPr>
          <a:lstStyle/>
          <a:p>
            <a:pPr algn="l"/>
            <a:r>
              <a:rPr sz="3600" b="1" i="0">
                <a:solidFill>
                  <a:srgbClr val="F2A63B"/>
                </a:solidFill>
                <a:latin typeface="Calibri"/>
              </a:rPr>
              <a:t>H</a:t>
            </a:r>
          </a:p>
        </p:txBody>
      </p:sp>
      <p:sp>
        <p:nvSpPr>
          <p:cNvPr id="16" name="TextBox 15"/>
          <p:cNvSpPr txBox="1"/>
          <p:nvPr/>
        </p:nvSpPr>
        <p:spPr>
          <a:xfrm>
            <a:off x="7653528" y="1920240"/>
            <a:ext cx="3758184" cy="411480"/>
          </a:xfrm>
          <a:prstGeom prst="rect">
            <a:avLst/>
          </a:prstGeom>
          <a:noFill/>
        </p:spPr>
        <p:txBody>
          <a:bodyPr wrap="square" lIns="0" rIns="0" tIns="0" bIns="0" anchor="t">
            <a:spAutoFit/>
          </a:bodyPr>
          <a:lstStyle/>
          <a:p>
            <a:pPr algn="l"/>
            <a:r>
              <a:rPr sz="1500" b="1" i="0">
                <a:solidFill>
                  <a:srgbClr val="F4F6FB"/>
                </a:solidFill>
                <a:latin typeface="Calibri"/>
              </a:rPr>
              <a:t>Hardware</a:t>
            </a:r>
          </a:p>
        </p:txBody>
      </p:sp>
      <p:sp>
        <p:nvSpPr>
          <p:cNvPr id="17" name="TextBox 16"/>
          <p:cNvSpPr txBox="1"/>
          <p:nvPr/>
        </p:nvSpPr>
        <p:spPr>
          <a:xfrm>
            <a:off x="6876288" y="2468880"/>
            <a:ext cx="4535424" cy="3520440"/>
          </a:xfrm>
          <a:prstGeom prst="rect">
            <a:avLst/>
          </a:prstGeom>
          <a:noFill/>
        </p:spPr>
        <p:txBody>
          <a:bodyPr wrap="square" lIns="0" rIns="0" tIns="0" bIns="0" anchor="t">
            <a:spAutoFit/>
          </a:bodyPr>
          <a:lstStyle/>
          <a:p>
            <a:pPr algn="l"/>
            <a:r>
              <a:rPr sz="1200" b="0" i="0">
                <a:solidFill>
                  <a:srgbClr val="C2CDDE"/>
                </a:solidFill>
                <a:latin typeface="Calibri"/>
              </a:rPr>
              <a:t>Dispositivo físico conectado entre el teclado y el equipo, o integrado en teclados maliciosos. No lo detecta un antivirus; solo se descubre por inspección visual.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02 · ÉTICA</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Usos legítimos y marco legal</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4 / 14</a:t>
            </a:r>
          </a:p>
        </p:txBody>
      </p:sp>
      <p:sp>
        <p:nvSpPr>
          <p:cNvPr id="8" name="Rectangle 7"/>
          <p:cNvSpPr/>
          <p:nvPr/>
        </p:nvSpPr>
        <p:spPr>
          <a:xfrm>
            <a:off x="548640" y="1783080"/>
            <a:ext cx="5577840" cy="43891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965960"/>
            <a:ext cx="5120640" cy="365760"/>
          </a:xfrm>
          <a:prstGeom prst="rect">
            <a:avLst/>
          </a:prstGeom>
          <a:noFill/>
        </p:spPr>
        <p:txBody>
          <a:bodyPr wrap="square" lIns="0" rIns="0" tIns="0" bIns="0" anchor="t">
            <a:spAutoFit/>
          </a:bodyPr>
          <a:lstStyle/>
          <a:p>
            <a:pPr algn="l"/>
            <a:r>
              <a:rPr sz="1200" b="1" i="0">
                <a:solidFill>
                  <a:srgbClr val="4CC28A"/>
                </a:solidFill>
                <a:latin typeface="Calibri"/>
              </a:rPr>
              <a:t>USOS LEGÍTIMOS</a:t>
            </a:r>
          </a:p>
        </p:txBody>
      </p:sp>
      <p:sp>
        <p:nvSpPr>
          <p:cNvPr id="10" name="TextBox 9"/>
          <p:cNvSpPr txBox="1"/>
          <p:nvPr/>
        </p:nvSpPr>
        <p:spPr>
          <a:xfrm>
            <a:off x="822960" y="2514600"/>
            <a:ext cx="5120640" cy="3657600"/>
          </a:xfrm>
          <a:prstGeom prst="rect">
            <a:avLst/>
          </a:prstGeom>
          <a:noFill/>
        </p:spPr>
        <p:txBody>
          <a:bodyPr wrap="square" anchor="t" lIns="0" rIns="0" tIns="0" bIns="0">
            <a:spAutoFit/>
          </a:bodyPr>
          <a:lstStyle/>
          <a:p>
            <a:pPr algn="l">
              <a:lnSpc>
                <a:spcPct val="125000"/>
              </a:lnSpc>
              <a:spcBef>
                <a:spcPts val="600"/>
              </a:spcBef>
            </a:pPr>
            <a:r>
              <a:rPr sz="1300" b="0" i="0">
                <a:solidFill>
                  <a:srgbClr val="F4F6FB"/>
                </a:solidFill>
                <a:latin typeface="Calibri"/>
              </a:rPr>
              <a:t>• Control parental sobre menores de edad.</a:t>
            </a:r>
          </a:p>
          <a:p>
            <a:pPr algn="l">
              <a:lnSpc>
                <a:spcPct val="125000"/>
              </a:lnSpc>
              <a:spcBef>
                <a:spcPts val="600"/>
              </a:spcBef>
            </a:pPr>
            <a:r>
              <a:rPr sz="1300" b="0" i="0">
                <a:solidFill>
                  <a:srgbClr val="F4F6FB"/>
                </a:solidFill>
                <a:latin typeface="Calibri"/>
              </a:rPr>
              <a:t>• Monitoreo corporativo autorizado y transparente.</a:t>
            </a:r>
          </a:p>
          <a:p>
            <a:pPr algn="l">
              <a:lnSpc>
                <a:spcPct val="125000"/>
              </a:lnSpc>
              <a:spcBef>
                <a:spcPts val="600"/>
              </a:spcBef>
            </a:pPr>
            <a:r>
              <a:rPr sz="1300" b="0" i="0">
                <a:solidFill>
                  <a:srgbClr val="F4F6FB"/>
                </a:solidFill>
                <a:latin typeface="Calibri"/>
              </a:rPr>
              <a:t>• Auditoría en pruebas de penetración (pentesting).</a:t>
            </a:r>
          </a:p>
          <a:p>
            <a:pPr algn="l">
              <a:lnSpc>
                <a:spcPct val="125000"/>
              </a:lnSpc>
              <a:spcBef>
                <a:spcPts val="600"/>
              </a:spcBef>
            </a:pPr>
            <a:r>
              <a:rPr sz="1300" b="0" i="0">
                <a:solidFill>
                  <a:srgbClr val="F4F6FB"/>
                </a:solidFill>
                <a:latin typeface="Calibri"/>
              </a:rPr>
              <a:t>• Investigación académica y enseñanza (este trabajo).</a:t>
            </a:r>
          </a:p>
          <a:p>
            <a:pPr algn="l">
              <a:lnSpc>
                <a:spcPct val="125000"/>
              </a:lnSpc>
              <a:spcBef>
                <a:spcPts val="600"/>
              </a:spcBef>
            </a:pPr>
            <a:r>
              <a:rPr sz="1300" b="0" i="0">
                <a:solidFill>
                  <a:srgbClr val="F4F6FB"/>
                </a:solidFill>
                <a:latin typeface="Calibri"/>
              </a:rPr>
              <a:t>• Siempre con consentimiento informado del usuario.</a:t>
            </a:r>
          </a:p>
        </p:txBody>
      </p:sp>
      <p:sp>
        <p:nvSpPr>
          <p:cNvPr id="11" name="Rectangle 10"/>
          <p:cNvSpPr/>
          <p:nvPr/>
        </p:nvSpPr>
        <p:spPr>
          <a:xfrm>
            <a:off x="6400800" y="1783080"/>
            <a:ext cx="5303520" cy="43891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1965960"/>
            <a:ext cx="4754880" cy="365760"/>
          </a:xfrm>
          <a:prstGeom prst="rect">
            <a:avLst/>
          </a:prstGeom>
          <a:noFill/>
        </p:spPr>
        <p:txBody>
          <a:bodyPr wrap="square" lIns="0" rIns="0" tIns="0" bIns="0" anchor="t">
            <a:spAutoFit/>
          </a:bodyPr>
          <a:lstStyle/>
          <a:p>
            <a:pPr algn="l"/>
            <a:r>
              <a:rPr sz="1200" b="1" i="0">
                <a:solidFill>
                  <a:srgbClr val="E26D5C"/>
                </a:solidFill>
                <a:latin typeface="Calibri"/>
              </a:rPr>
              <a:t>MARCO LEGAL — PERÚ</a:t>
            </a:r>
          </a:p>
        </p:txBody>
      </p:sp>
      <p:sp>
        <p:nvSpPr>
          <p:cNvPr id="13" name="TextBox 12"/>
          <p:cNvSpPr txBox="1"/>
          <p:nvPr/>
        </p:nvSpPr>
        <p:spPr>
          <a:xfrm>
            <a:off x="6675120" y="2468880"/>
            <a:ext cx="4754880" cy="3657600"/>
          </a:xfrm>
          <a:prstGeom prst="rect">
            <a:avLst/>
          </a:prstGeom>
          <a:noFill/>
        </p:spPr>
        <p:txBody>
          <a:bodyPr wrap="square" anchor="t" lIns="0" rIns="0" tIns="0" bIns="0">
            <a:spAutoFit/>
          </a:bodyPr>
          <a:lstStyle/>
          <a:p>
            <a:pPr algn="l">
              <a:lnSpc>
                <a:spcPct val="125000"/>
              </a:lnSpc>
            </a:pPr>
            <a:r>
              <a:rPr sz="2000" b="1" i="0">
                <a:solidFill>
                  <a:srgbClr val="F4F6FB"/>
                </a:solidFill>
                <a:latin typeface="Calibri"/>
              </a:rPr>
              <a:t>Ley N.° 30096</a:t>
            </a:r>
          </a:p>
          <a:p>
            <a:pPr algn="l">
              <a:lnSpc>
                <a:spcPct val="125000"/>
              </a:lnSpc>
            </a:pPr>
            <a:r>
              <a:rPr sz="1200" b="0" i="1">
                <a:solidFill>
                  <a:srgbClr val="C2CDDE"/>
                </a:solidFill>
                <a:latin typeface="Calibri"/>
              </a:rPr>
              <a:t>Ley de Delitos Informáticos (2013)</a:t>
            </a:r>
          </a:p>
          <a:p>
            <a:pPr algn="l">
              <a:lnSpc>
                <a:spcPct val="125000"/>
              </a:lnSpc>
              <a:spcBef>
                <a:spcPts val="200"/>
              </a:spcBef>
            </a:pPr>
            <a:r>
              <a:rPr sz="1100" b="0" i="0">
                <a:solidFill>
                  <a:srgbClr val="C2CDDE"/>
                </a:solidFill>
                <a:latin typeface="Calibri"/>
              </a:rPr>
              <a:t>Modificada por la Ley N.° 30171 (2014).</a:t>
            </a:r>
          </a:p>
          <a:p>
            <a:pPr algn="l">
              <a:lnSpc>
                <a:spcPct val="125000"/>
              </a:lnSpc>
              <a:spcBef>
                <a:spcPts val="1400"/>
              </a:spcBef>
            </a:pPr>
            <a:r>
              <a:rPr sz="1200" b="0" i="0">
                <a:solidFill>
                  <a:srgbClr val="F4F6FB"/>
                </a:solidFill>
                <a:latin typeface="Calibri"/>
              </a:rPr>
              <a:t>Registrar las pulsaciones del teclado de otra persona sin su consentimiento puede constituir delito de atentado a la integridad de datos y tráfico ilegal de datos.</a:t>
            </a:r>
          </a:p>
          <a:p>
            <a:pPr algn="l">
              <a:lnSpc>
                <a:spcPct val="125000"/>
              </a:lnSpc>
              <a:spcBef>
                <a:spcPts val="1200"/>
              </a:spcBef>
            </a:pPr>
            <a:r>
              <a:rPr sz="1200" b="0" i="1">
                <a:solidFill>
                  <a:srgbClr val="F2A63B"/>
                </a:solidFill>
                <a:latin typeface="Calibri"/>
              </a:rPr>
              <a:t>Por eso nuestro programa SOLO opera previo consentimiento explícito y guarda todo localmente.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03 · FUNCIONAMIENTO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¿Cómo funciona por dentro?</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5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400" b="0" i="1">
                <a:solidFill>
                  <a:srgbClr val="C2CDDE"/>
                </a:solidFill>
                <a:latin typeface="Calibri"/>
              </a:rPr>
              <a:t>Flujo de 7 pasos usando la librería pynput (Python):</a:t>
            </a:r>
          </a:p>
        </p:txBody>
      </p:sp>
      <p:sp>
        <p:nvSpPr>
          <p:cNvPr id="9" name="Rectangle 8"/>
          <p:cNvSpPr/>
          <p:nvPr/>
        </p:nvSpPr>
        <p:spPr>
          <a:xfrm>
            <a:off x="548640" y="214884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40280"/>
            <a:ext cx="731520" cy="640080"/>
          </a:xfrm>
          <a:prstGeom prst="rect">
            <a:avLst/>
          </a:prstGeom>
          <a:noFill/>
        </p:spPr>
        <p:txBody>
          <a:bodyPr wrap="square" lIns="0" rIns="0" tIns="0" bIns="0" anchor="t">
            <a:spAutoFit/>
          </a:bodyPr>
          <a:lstStyle/>
          <a:p>
            <a:pPr algn="l"/>
            <a:r>
              <a:rPr sz="3600" b="1" i="0">
                <a:solidFill>
                  <a:srgbClr val="F2A63B"/>
                </a:solidFill>
                <a:latin typeface="Calibri"/>
              </a:rPr>
              <a:t>1</a:t>
            </a:r>
          </a:p>
        </p:txBody>
      </p:sp>
      <p:sp>
        <p:nvSpPr>
          <p:cNvPr id="11" name="TextBox 10"/>
          <p:cNvSpPr txBox="1"/>
          <p:nvPr/>
        </p:nvSpPr>
        <p:spPr>
          <a:xfrm>
            <a:off x="1527048" y="2286000"/>
            <a:ext cx="2523744" cy="411480"/>
          </a:xfrm>
          <a:prstGeom prst="rect">
            <a:avLst/>
          </a:prstGeom>
          <a:noFill/>
        </p:spPr>
        <p:txBody>
          <a:bodyPr wrap="square" lIns="0" rIns="0" tIns="0" bIns="0" anchor="t">
            <a:spAutoFit/>
          </a:bodyPr>
          <a:lstStyle/>
          <a:p>
            <a:pPr algn="l"/>
            <a:r>
              <a:rPr sz="1500" b="1" i="0">
                <a:solidFill>
                  <a:srgbClr val="F4F6FB"/>
                </a:solidFill>
                <a:latin typeface="Calibri"/>
              </a:rPr>
              <a:t>Consentimiento</a:t>
            </a:r>
          </a:p>
        </p:txBody>
      </p:sp>
      <p:sp>
        <p:nvSpPr>
          <p:cNvPr id="12" name="TextBox 11"/>
          <p:cNvSpPr txBox="1"/>
          <p:nvPr/>
        </p:nvSpPr>
        <p:spPr>
          <a:xfrm>
            <a:off x="749808" y="2834640"/>
            <a:ext cx="3300984" cy="548640"/>
          </a:xfrm>
          <a:prstGeom prst="rect">
            <a:avLst/>
          </a:prstGeom>
          <a:noFill/>
        </p:spPr>
        <p:txBody>
          <a:bodyPr wrap="square" lIns="0" rIns="0" tIns="0" bIns="0" anchor="t">
            <a:spAutoFit/>
          </a:bodyPr>
          <a:lstStyle/>
          <a:p>
            <a:pPr algn="l"/>
            <a:r>
              <a:rPr sz="1200" b="0" i="0">
                <a:solidFill>
                  <a:srgbClr val="C2CDDE"/>
                </a:solidFill>
                <a:latin typeface="Calibri"/>
              </a:rPr>
              <a:t>Aviso ético en consola; el usuario confirma 'si' o 'no'.</a:t>
            </a:r>
          </a:p>
        </p:txBody>
      </p:sp>
      <p:sp>
        <p:nvSpPr>
          <p:cNvPr id="13" name="Rectangle 12"/>
          <p:cNvSpPr/>
          <p:nvPr/>
        </p:nvSpPr>
        <p:spPr>
          <a:xfrm>
            <a:off x="4389120" y="214884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2240280"/>
            <a:ext cx="731520" cy="640080"/>
          </a:xfrm>
          <a:prstGeom prst="rect">
            <a:avLst/>
          </a:prstGeom>
          <a:noFill/>
        </p:spPr>
        <p:txBody>
          <a:bodyPr wrap="square" lIns="0" rIns="0" tIns="0" bIns="0" anchor="t">
            <a:spAutoFit/>
          </a:bodyPr>
          <a:lstStyle/>
          <a:p>
            <a:pPr algn="l"/>
            <a:r>
              <a:rPr sz="3600" b="1" i="0">
                <a:solidFill>
                  <a:srgbClr val="F2A63B"/>
                </a:solidFill>
                <a:latin typeface="Calibri"/>
              </a:rPr>
              <a:t>2</a:t>
            </a:r>
          </a:p>
        </p:txBody>
      </p:sp>
      <p:sp>
        <p:nvSpPr>
          <p:cNvPr id="15" name="TextBox 14"/>
          <p:cNvSpPr txBox="1"/>
          <p:nvPr/>
        </p:nvSpPr>
        <p:spPr>
          <a:xfrm>
            <a:off x="5367528" y="2286000"/>
            <a:ext cx="2523744" cy="411480"/>
          </a:xfrm>
          <a:prstGeom prst="rect">
            <a:avLst/>
          </a:prstGeom>
          <a:noFill/>
        </p:spPr>
        <p:txBody>
          <a:bodyPr wrap="square" lIns="0" rIns="0" tIns="0" bIns="0" anchor="t">
            <a:spAutoFit/>
          </a:bodyPr>
          <a:lstStyle/>
          <a:p>
            <a:pPr algn="l"/>
            <a:r>
              <a:rPr sz="1500" b="1" i="0">
                <a:solidFill>
                  <a:srgbClr val="F4F6FB"/>
                </a:solidFill>
                <a:latin typeface="Calibri"/>
              </a:rPr>
              <a:t>Configuración</a:t>
            </a:r>
          </a:p>
        </p:txBody>
      </p:sp>
      <p:sp>
        <p:nvSpPr>
          <p:cNvPr id="16" name="TextBox 15"/>
          <p:cNvSpPr txBox="1"/>
          <p:nvPr/>
        </p:nvSpPr>
        <p:spPr>
          <a:xfrm>
            <a:off x="4590288" y="2834640"/>
            <a:ext cx="3300984" cy="548640"/>
          </a:xfrm>
          <a:prstGeom prst="rect">
            <a:avLst/>
          </a:prstGeom>
          <a:noFill/>
        </p:spPr>
        <p:txBody>
          <a:bodyPr wrap="square" lIns="0" rIns="0" tIns="0" bIns="0" anchor="t">
            <a:spAutoFit/>
          </a:bodyPr>
          <a:lstStyle/>
          <a:p>
            <a:pPr algn="l"/>
            <a:r>
              <a:rPr sz="1200" b="0" i="0">
                <a:solidFill>
                  <a:srgbClr val="C2CDDE"/>
                </a:solidFill>
                <a:latin typeface="Calibri"/>
              </a:rPr>
              <a:t>Carga valores por defecto, config.json y argumentos CLI.</a:t>
            </a:r>
          </a:p>
        </p:txBody>
      </p:sp>
      <p:sp>
        <p:nvSpPr>
          <p:cNvPr id="17" name="Rectangle 16"/>
          <p:cNvSpPr/>
          <p:nvPr/>
        </p:nvSpPr>
        <p:spPr>
          <a:xfrm>
            <a:off x="8229600" y="214884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2240280"/>
            <a:ext cx="731520" cy="640080"/>
          </a:xfrm>
          <a:prstGeom prst="rect">
            <a:avLst/>
          </a:prstGeom>
          <a:noFill/>
        </p:spPr>
        <p:txBody>
          <a:bodyPr wrap="square" lIns="0" rIns="0" tIns="0" bIns="0" anchor="t">
            <a:spAutoFit/>
          </a:bodyPr>
          <a:lstStyle/>
          <a:p>
            <a:pPr algn="l"/>
            <a:r>
              <a:rPr sz="3600" b="1" i="0">
                <a:solidFill>
                  <a:srgbClr val="F2A63B"/>
                </a:solidFill>
                <a:latin typeface="Calibri"/>
              </a:rPr>
              <a:t>3</a:t>
            </a:r>
          </a:p>
        </p:txBody>
      </p:sp>
      <p:sp>
        <p:nvSpPr>
          <p:cNvPr id="19" name="TextBox 18"/>
          <p:cNvSpPr txBox="1"/>
          <p:nvPr/>
        </p:nvSpPr>
        <p:spPr>
          <a:xfrm>
            <a:off x="9208008" y="2286000"/>
            <a:ext cx="2523744" cy="411480"/>
          </a:xfrm>
          <a:prstGeom prst="rect">
            <a:avLst/>
          </a:prstGeom>
          <a:noFill/>
        </p:spPr>
        <p:txBody>
          <a:bodyPr wrap="square" lIns="0" rIns="0" tIns="0" bIns="0" anchor="t">
            <a:spAutoFit/>
          </a:bodyPr>
          <a:lstStyle/>
          <a:p>
            <a:pPr algn="l"/>
            <a:r>
              <a:rPr sz="1500" b="1" i="0">
                <a:solidFill>
                  <a:srgbClr val="F4F6FB"/>
                </a:solidFill>
                <a:latin typeface="Calibri"/>
              </a:rPr>
              <a:t>Enganche</a:t>
            </a:r>
          </a:p>
        </p:txBody>
      </p:sp>
      <p:sp>
        <p:nvSpPr>
          <p:cNvPr id="20" name="TextBox 19"/>
          <p:cNvSpPr txBox="1"/>
          <p:nvPr/>
        </p:nvSpPr>
        <p:spPr>
          <a:xfrm>
            <a:off x="8430768" y="2834640"/>
            <a:ext cx="3300984" cy="548640"/>
          </a:xfrm>
          <a:prstGeom prst="rect">
            <a:avLst/>
          </a:prstGeom>
          <a:noFill/>
        </p:spPr>
        <p:txBody>
          <a:bodyPr wrap="square" lIns="0" rIns="0" tIns="0" bIns="0" anchor="t">
            <a:spAutoFit/>
          </a:bodyPr>
          <a:lstStyle/>
          <a:p>
            <a:pPr algn="l"/>
            <a:r>
              <a:rPr sz="1200" b="0" i="0">
                <a:solidFill>
                  <a:srgbClr val="C2CDDE"/>
                </a:solidFill>
                <a:latin typeface="Calibri"/>
              </a:rPr>
              <a:t>pynput.keyboard.Listener captura on_press y on_release en un hilo.</a:t>
            </a:r>
          </a:p>
        </p:txBody>
      </p:sp>
      <p:sp>
        <p:nvSpPr>
          <p:cNvPr id="21" name="Rectangle 20"/>
          <p:cNvSpPr/>
          <p:nvPr/>
        </p:nvSpPr>
        <p:spPr>
          <a:xfrm>
            <a:off x="548640" y="361188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703320"/>
            <a:ext cx="731520" cy="640080"/>
          </a:xfrm>
          <a:prstGeom prst="rect">
            <a:avLst/>
          </a:prstGeom>
          <a:noFill/>
        </p:spPr>
        <p:txBody>
          <a:bodyPr wrap="square" lIns="0" rIns="0" tIns="0" bIns="0" anchor="t">
            <a:spAutoFit/>
          </a:bodyPr>
          <a:lstStyle/>
          <a:p>
            <a:pPr algn="l"/>
            <a:r>
              <a:rPr sz="3600" b="1" i="0">
                <a:solidFill>
                  <a:srgbClr val="F2A63B"/>
                </a:solidFill>
                <a:latin typeface="Calibri"/>
              </a:rPr>
              <a:t>4</a:t>
            </a:r>
          </a:p>
        </p:txBody>
      </p:sp>
      <p:sp>
        <p:nvSpPr>
          <p:cNvPr id="23" name="TextBox 22"/>
          <p:cNvSpPr txBox="1"/>
          <p:nvPr/>
        </p:nvSpPr>
        <p:spPr>
          <a:xfrm>
            <a:off x="1527048" y="3749040"/>
            <a:ext cx="2523744" cy="411480"/>
          </a:xfrm>
          <a:prstGeom prst="rect">
            <a:avLst/>
          </a:prstGeom>
          <a:noFill/>
        </p:spPr>
        <p:txBody>
          <a:bodyPr wrap="square" lIns="0" rIns="0" tIns="0" bIns="0" anchor="t">
            <a:spAutoFit/>
          </a:bodyPr>
          <a:lstStyle/>
          <a:p>
            <a:pPr algn="l"/>
            <a:r>
              <a:rPr sz="1500" b="1" i="0">
                <a:solidFill>
                  <a:srgbClr val="F4F6FB"/>
                </a:solidFill>
                <a:latin typeface="Calibri"/>
              </a:rPr>
              <a:t>Formateo</a:t>
            </a:r>
          </a:p>
        </p:txBody>
      </p:sp>
      <p:sp>
        <p:nvSpPr>
          <p:cNvPr id="24" name="TextBox 23"/>
          <p:cNvSpPr txBox="1"/>
          <p:nvPr/>
        </p:nvSpPr>
        <p:spPr>
          <a:xfrm>
            <a:off x="749808" y="4297680"/>
            <a:ext cx="3300984" cy="548640"/>
          </a:xfrm>
          <a:prstGeom prst="rect">
            <a:avLst/>
          </a:prstGeom>
          <a:noFill/>
        </p:spPr>
        <p:txBody>
          <a:bodyPr wrap="square" lIns="0" rIns="0" tIns="0" bIns="0" anchor="t">
            <a:spAutoFit/>
          </a:bodyPr>
          <a:lstStyle/>
          <a:p>
            <a:pPr algn="l"/>
            <a:r>
              <a:rPr sz="1200" b="0" i="0">
                <a:solidFill>
                  <a:srgbClr val="C2CDDE"/>
                </a:solidFill>
                <a:latin typeface="Calibri"/>
              </a:rPr>
              <a:t>Clasifica: carácter, especial ([enter]) o combo ([Ctrl+C]).</a:t>
            </a:r>
          </a:p>
        </p:txBody>
      </p:sp>
      <p:sp>
        <p:nvSpPr>
          <p:cNvPr id="25" name="Rectangle 24"/>
          <p:cNvSpPr/>
          <p:nvPr/>
        </p:nvSpPr>
        <p:spPr>
          <a:xfrm>
            <a:off x="4389120" y="361188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0288" y="3703320"/>
            <a:ext cx="731520" cy="640080"/>
          </a:xfrm>
          <a:prstGeom prst="rect">
            <a:avLst/>
          </a:prstGeom>
          <a:noFill/>
        </p:spPr>
        <p:txBody>
          <a:bodyPr wrap="square" lIns="0" rIns="0" tIns="0" bIns="0" anchor="t">
            <a:spAutoFit/>
          </a:bodyPr>
          <a:lstStyle/>
          <a:p>
            <a:pPr algn="l"/>
            <a:r>
              <a:rPr sz="3600" b="1" i="0">
                <a:solidFill>
                  <a:srgbClr val="F2A63B"/>
                </a:solidFill>
                <a:latin typeface="Calibri"/>
              </a:rPr>
              <a:t>5</a:t>
            </a:r>
          </a:p>
        </p:txBody>
      </p:sp>
      <p:sp>
        <p:nvSpPr>
          <p:cNvPr id="27" name="TextBox 26"/>
          <p:cNvSpPr txBox="1"/>
          <p:nvPr/>
        </p:nvSpPr>
        <p:spPr>
          <a:xfrm>
            <a:off x="5367528" y="3749040"/>
            <a:ext cx="2523744" cy="411480"/>
          </a:xfrm>
          <a:prstGeom prst="rect">
            <a:avLst/>
          </a:prstGeom>
          <a:noFill/>
        </p:spPr>
        <p:txBody>
          <a:bodyPr wrap="square" lIns="0" rIns="0" tIns="0" bIns="0" anchor="t">
            <a:spAutoFit/>
          </a:bodyPr>
          <a:lstStyle/>
          <a:p>
            <a:pPr algn="l"/>
            <a:r>
              <a:rPr sz="1500" b="1" i="0">
                <a:solidFill>
                  <a:srgbClr val="F4F6FB"/>
                </a:solidFill>
                <a:latin typeface="Calibri"/>
              </a:rPr>
              <a:t>Contexto</a:t>
            </a:r>
          </a:p>
        </p:txBody>
      </p:sp>
      <p:sp>
        <p:nvSpPr>
          <p:cNvPr id="28" name="TextBox 27"/>
          <p:cNvSpPr txBox="1"/>
          <p:nvPr/>
        </p:nvSpPr>
        <p:spPr>
          <a:xfrm>
            <a:off x="4590288" y="4297680"/>
            <a:ext cx="3300984" cy="548640"/>
          </a:xfrm>
          <a:prstGeom prst="rect">
            <a:avLst/>
          </a:prstGeom>
          <a:noFill/>
        </p:spPr>
        <p:txBody>
          <a:bodyPr wrap="square" lIns="0" rIns="0" tIns="0" bIns="0" anchor="t">
            <a:spAutoFit/>
          </a:bodyPr>
          <a:lstStyle/>
          <a:p>
            <a:pPr algn="l"/>
            <a:r>
              <a:rPr sz="1200" b="0" i="0">
                <a:solidFill>
                  <a:srgbClr val="C2CDDE"/>
                </a:solidFill>
                <a:latin typeface="Calibri"/>
              </a:rPr>
              <a:t>Agrega la ventana activa y la marca de tiempo al evento.</a:t>
            </a:r>
          </a:p>
        </p:txBody>
      </p:sp>
      <p:sp>
        <p:nvSpPr>
          <p:cNvPr id="29" name="Rectangle 28"/>
          <p:cNvSpPr/>
          <p:nvPr/>
        </p:nvSpPr>
        <p:spPr>
          <a:xfrm>
            <a:off x="8229600" y="3611880"/>
            <a:ext cx="370332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30768" y="3703320"/>
            <a:ext cx="731520" cy="640080"/>
          </a:xfrm>
          <a:prstGeom prst="rect">
            <a:avLst/>
          </a:prstGeom>
          <a:noFill/>
        </p:spPr>
        <p:txBody>
          <a:bodyPr wrap="square" lIns="0" rIns="0" tIns="0" bIns="0" anchor="t">
            <a:spAutoFit/>
          </a:bodyPr>
          <a:lstStyle/>
          <a:p>
            <a:pPr algn="l"/>
            <a:r>
              <a:rPr sz="3600" b="1" i="0">
                <a:solidFill>
                  <a:srgbClr val="F2A63B"/>
                </a:solidFill>
                <a:latin typeface="Calibri"/>
              </a:rPr>
              <a:t>6</a:t>
            </a:r>
          </a:p>
        </p:txBody>
      </p:sp>
      <p:sp>
        <p:nvSpPr>
          <p:cNvPr id="31" name="TextBox 30"/>
          <p:cNvSpPr txBox="1"/>
          <p:nvPr/>
        </p:nvSpPr>
        <p:spPr>
          <a:xfrm>
            <a:off x="9208008" y="3749040"/>
            <a:ext cx="2523744" cy="411480"/>
          </a:xfrm>
          <a:prstGeom prst="rect">
            <a:avLst/>
          </a:prstGeom>
          <a:noFill/>
        </p:spPr>
        <p:txBody>
          <a:bodyPr wrap="square" lIns="0" rIns="0" tIns="0" bIns="0" anchor="t">
            <a:spAutoFit/>
          </a:bodyPr>
          <a:lstStyle/>
          <a:p>
            <a:pPr algn="l"/>
            <a:r>
              <a:rPr sz="1500" b="1" i="0">
                <a:solidFill>
                  <a:srgbClr val="F4F6FB"/>
                </a:solidFill>
                <a:latin typeface="Calibri"/>
              </a:rPr>
              <a:t>Persistencia</a:t>
            </a:r>
          </a:p>
        </p:txBody>
      </p:sp>
      <p:sp>
        <p:nvSpPr>
          <p:cNvPr id="32" name="TextBox 31"/>
          <p:cNvSpPr txBox="1"/>
          <p:nvPr/>
        </p:nvSpPr>
        <p:spPr>
          <a:xfrm>
            <a:off x="8430768" y="4297680"/>
            <a:ext cx="3300984" cy="548640"/>
          </a:xfrm>
          <a:prstGeom prst="rect">
            <a:avLst/>
          </a:prstGeom>
          <a:noFill/>
        </p:spPr>
        <p:txBody>
          <a:bodyPr wrap="square" lIns="0" rIns="0" tIns="0" bIns="0" anchor="t">
            <a:spAutoFit/>
          </a:bodyPr>
          <a:lstStyle/>
          <a:p>
            <a:pPr algn="l"/>
            <a:r>
              <a:rPr sz="1200" b="0" i="0">
                <a:solidFill>
                  <a:srgbClr val="C2CDDE"/>
                </a:solidFill>
                <a:latin typeface="Calibri"/>
              </a:rPr>
              <a:t>Escribe .txt legible y .jsonl estructurado (flush por evento).</a:t>
            </a:r>
          </a:p>
        </p:txBody>
      </p:sp>
      <p:sp>
        <p:nvSpPr>
          <p:cNvPr id="33" name="Rectangle 32"/>
          <p:cNvSpPr/>
          <p:nvPr/>
        </p:nvSpPr>
        <p:spPr>
          <a:xfrm>
            <a:off x="548640" y="5074920"/>
            <a:ext cx="7543800" cy="132588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166360"/>
            <a:ext cx="731520" cy="640080"/>
          </a:xfrm>
          <a:prstGeom prst="rect">
            <a:avLst/>
          </a:prstGeom>
          <a:noFill/>
        </p:spPr>
        <p:txBody>
          <a:bodyPr wrap="square" lIns="0" rIns="0" tIns="0" bIns="0" anchor="t">
            <a:spAutoFit/>
          </a:bodyPr>
          <a:lstStyle/>
          <a:p>
            <a:pPr algn="l"/>
            <a:r>
              <a:rPr sz="3600" b="1" i="0">
                <a:solidFill>
                  <a:srgbClr val="F2A63B"/>
                </a:solidFill>
                <a:latin typeface="Calibri"/>
              </a:rPr>
              <a:t>7</a:t>
            </a:r>
          </a:p>
        </p:txBody>
      </p:sp>
      <p:sp>
        <p:nvSpPr>
          <p:cNvPr id="35" name="TextBox 34"/>
          <p:cNvSpPr txBox="1"/>
          <p:nvPr/>
        </p:nvSpPr>
        <p:spPr>
          <a:xfrm>
            <a:off x="1527048" y="5212080"/>
            <a:ext cx="6364224" cy="411480"/>
          </a:xfrm>
          <a:prstGeom prst="rect">
            <a:avLst/>
          </a:prstGeom>
          <a:noFill/>
        </p:spPr>
        <p:txBody>
          <a:bodyPr wrap="square" lIns="0" rIns="0" tIns="0" bIns="0" anchor="t">
            <a:spAutoFit/>
          </a:bodyPr>
          <a:lstStyle/>
          <a:p>
            <a:pPr algn="l"/>
            <a:r>
              <a:rPr sz="1500" b="1" i="0">
                <a:solidFill>
                  <a:srgbClr val="F4F6FB"/>
                </a:solidFill>
                <a:latin typeface="Calibri"/>
              </a:rPr>
              <a:t>Detención</a:t>
            </a:r>
          </a:p>
        </p:txBody>
      </p:sp>
      <p:sp>
        <p:nvSpPr>
          <p:cNvPr id="36" name="TextBox 35"/>
          <p:cNvSpPr txBox="1"/>
          <p:nvPr/>
        </p:nvSpPr>
        <p:spPr>
          <a:xfrm>
            <a:off x="749808" y="5760720"/>
            <a:ext cx="7141464" cy="548640"/>
          </a:xfrm>
          <a:prstGeom prst="rect">
            <a:avLst/>
          </a:prstGeom>
          <a:noFill/>
        </p:spPr>
        <p:txBody>
          <a:bodyPr wrap="square" lIns="0" rIns="0" tIns="0" bIns="0" anchor="t">
            <a:spAutoFit/>
          </a:bodyPr>
          <a:lstStyle/>
          <a:p>
            <a:pPr algn="l"/>
            <a:r>
              <a:rPr sz="1200" b="0" i="0">
                <a:solidFill>
                  <a:srgbClr val="C2CDDE"/>
                </a:solidFill>
                <a:latin typeface="Calibri"/>
              </a:rPr>
              <a:t>ESC detiene; F9 pausa/reanuda; cierra con SIGINT/SIGTERM.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04 · DISEÑO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Arquitectura del proyecto</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6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400" b="0" i="1">
                <a:solidFill>
                  <a:srgbClr val="C2CDDE"/>
                </a:solidFill>
                <a:latin typeface="Calibri"/>
              </a:rPr>
              <a:t>Seis módulos con responsabilidades bien delimitadas:</a:t>
            </a:r>
          </a:p>
        </p:txBody>
      </p:sp>
      <p:sp>
        <p:nvSpPr>
          <p:cNvPr id="9" name="Rectangle 8"/>
          <p:cNvSpPr/>
          <p:nvPr/>
        </p:nvSpPr>
        <p:spPr>
          <a:xfrm>
            <a:off x="548640" y="2148840"/>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48840"/>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48840"/>
            <a:ext cx="2103120" cy="658368"/>
          </a:xfrm>
          <a:prstGeom prst="rect">
            <a:avLst/>
          </a:prstGeom>
          <a:noFill/>
        </p:spPr>
        <p:txBody>
          <a:bodyPr wrap="square" lIns="0" rIns="0" tIns="0" bIns="0" anchor="ctr">
            <a:spAutoFit/>
          </a:bodyPr>
          <a:lstStyle/>
          <a:p>
            <a:pPr algn="l"/>
            <a:r>
              <a:rPr sz="1300" b="1" i="0">
                <a:solidFill>
                  <a:srgbClr val="F2A63B"/>
                </a:solidFill>
                <a:latin typeface="Consolas"/>
              </a:rPr>
              <a:t>keylogger.py</a:t>
            </a:r>
          </a:p>
        </p:txBody>
      </p:sp>
      <p:sp>
        <p:nvSpPr>
          <p:cNvPr id="12" name="TextBox 11"/>
          <p:cNvSpPr txBox="1"/>
          <p:nvPr/>
        </p:nvSpPr>
        <p:spPr>
          <a:xfrm>
            <a:off x="2926080" y="2148840"/>
            <a:ext cx="3108960" cy="658368"/>
          </a:xfrm>
          <a:prstGeom prst="rect">
            <a:avLst/>
          </a:prstGeom>
          <a:noFill/>
        </p:spPr>
        <p:txBody>
          <a:bodyPr wrap="square" lIns="0" rIns="0" tIns="0" bIns="0" anchor="ctr">
            <a:spAutoFit/>
          </a:bodyPr>
          <a:lstStyle/>
          <a:p>
            <a:pPr algn="l"/>
            <a:r>
              <a:rPr sz="1200" b="0" i="0">
                <a:solidFill>
                  <a:srgbClr val="F4F6FB"/>
                </a:solidFill>
                <a:latin typeface="Calibri"/>
              </a:rPr>
              <a:t>Orquestador: consentimiento, ciclo de vida, señales.</a:t>
            </a:r>
          </a:p>
        </p:txBody>
      </p:sp>
      <p:sp>
        <p:nvSpPr>
          <p:cNvPr id="13" name="Rectangle 12"/>
          <p:cNvSpPr/>
          <p:nvPr/>
        </p:nvSpPr>
        <p:spPr>
          <a:xfrm>
            <a:off x="6263640" y="2148840"/>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2148840"/>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148840"/>
            <a:ext cx="2103120" cy="658368"/>
          </a:xfrm>
          <a:prstGeom prst="rect">
            <a:avLst/>
          </a:prstGeom>
          <a:noFill/>
        </p:spPr>
        <p:txBody>
          <a:bodyPr wrap="square" lIns="0" rIns="0" tIns="0" bIns="0" anchor="ctr">
            <a:spAutoFit/>
          </a:bodyPr>
          <a:lstStyle/>
          <a:p>
            <a:pPr algn="l"/>
            <a:r>
              <a:rPr sz="1300" b="1" i="0">
                <a:solidFill>
                  <a:srgbClr val="F2A63B"/>
                </a:solidFill>
                <a:latin typeface="Consolas"/>
              </a:rPr>
              <a:t>captura.py</a:t>
            </a:r>
          </a:p>
        </p:txBody>
      </p:sp>
      <p:sp>
        <p:nvSpPr>
          <p:cNvPr id="16" name="TextBox 15"/>
          <p:cNvSpPr txBox="1"/>
          <p:nvPr/>
        </p:nvSpPr>
        <p:spPr>
          <a:xfrm>
            <a:off x="8641080" y="2148840"/>
            <a:ext cx="3108960" cy="658368"/>
          </a:xfrm>
          <a:prstGeom prst="rect">
            <a:avLst/>
          </a:prstGeom>
          <a:noFill/>
        </p:spPr>
        <p:txBody>
          <a:bodyPr wrap="square" lIns="0" rIns="0" tIns="0" bIns="0" anchor="ctr">
            <a:spAutoFit/>
          </a:bodyPr>
          <a:lstStyle/>
          <a:p>
            <a:pPr algn="l"/>
            <a:r>
              <a:rPr sz="1200" b="0" i="0">
                <a:solidFill>
                  <a:srgbClr val="F4F6FB"/>
                </a:solidFill>
                <a:latin typeface="Calibri"/>
              </a:rPr>
              <a:t>Formateo de teclas (carácter / especial / combo).</a:t>
            </a:r>
          </a:p>
        </p:txBody>
      </p:sp>
      <p:sp>
        <p:nvSpPr>
          <p:cNvPr id="17" name="Rectangle 16"/>
          <p:cNvSpPr/>
          <p:nvPr/>
        </p:nvSpPr>
        <p:spPr>
          <a:xfrm>
            <a:off x="548640" y="2944368"/>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2944368"/>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2944368"/>
            <a:ext cx="2103120" cy="658368"/>
          </a:xfrm>
          <a:prstGeom prst="rect">
            <a:avLst/>
          </a:prstGeom>
          <a:noFill/>
        </p:spPr>
        <p:txBody>
          <a:bodyPr wrap="square" lIns="0" rIns="0" tIns="0" bIns="0" anchor="ctr">
            <a:spAutoFit/>
          </a:bodyPr>
          <a:lstStyle/>
          <a:p>
            <a:pPr algn="l"/>
            <a:r>
              <a:rPr sz="1300" b="1" i="0">
                <a:solidFill>
                  <a:srgbClr val="F2A63B"/>
                </a:solidFill>
                <a:latin typeface="Consolas"/>
              </a:rPr>
              <a:t>registro.py</a:t>
            </a:r>
          </a:p>
        </p:txBody>
      </p:sp>
      <p:sp>
        <p:nvSpPr>
          <p:cNvPr id="20" name="TextBox 19"/>
          <p:cNvSpPr txBox="1"/>
          <p:nvPr/>
        </p:nvSpPr>
        <p:spPr>
          <a:xfrm>
            <a:off x="2926080" y="2944368"/>
            <a:ext cx="3108960" cy="658368"/>
          </a:xfrm>
          <a:prstGeom prst="rect">
            <a:avLst/>
          </a:prstGeom>
          <a:noFill/>
        </p:spPr>
        <p:txBody>
          <a:bodyPr wrap="square" lIns="0" rIns="0" tIns="0" bIns="0" anchor="ctr">
            <a:spAutoFit/>
          </a:bodyPr>
          <a:lstStyle/>
          <a:p>
            <a:pPr algn="l"/>
            <a:r>
              <a:rPr sz="1200" b="0" i="0">
                <a:solidFill>
                  <a:srgbClr val="F4F6FB"/>
                </a:solidFill>
                <a:latin typeface="Calibri"/>
              </a:rPr>
              <a:t>Escritura dual: .txt legible + .jsonl estructurado.</a:t>
            </a:r>
          </a:p>
        </p:txBody>
      </p:sp>
      <p:sp>
        <p:nvSpPr>
          <p:cNvPr id="21" name="Rectangle 20"/>
          <p:cNvSpPr/>
          <p:nvPr/>
        </p:nvSpPr>
        <p:spPr>
          <a:xfrm>
            <a:off x="6263640" y="2944368"/>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63640" y="2944368"/>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944368"/>
            <a:ext cx="2103120" cy="658368"/>
          </a:xfrm>
          <a:prstGeom prst="rect">
            <a:avLst/>
          </a:prstGeom>
          <a:noFill/>
        </p:spPr>
        <p:txBody>
          <a:bodyPr wrap="square" lIns="0" rIns="0" tIns="0" bIns="0" anchor="ctr">
            <a:spAutoFit/>
          </a:bodyPr>
          <a:lstStyle/>
          <a:p>
            <a:pPr algn="l"/>
            <a:r>
              <a:rPr sz="1300" b="1" i="0">
                <a:solidFill>
                  <a:srgbClr val="F2A63B"/>
                </a:solidFill>
                <a:latin typeface="Consolas"/>
              </a:rPr>
              <a:t>ventana.py</a:t>
            </a:r>
          </a:p>
        </p:txBody>
      </p:sp>
      <p:sp>
        <p:nvSpPr>
          <p:cNvPr id="24" name="TextBox 23"/>
          <p:cNvSpPr txBox="1"/>
          <p:nvPr/>
        </p:nvSpPr>
        <p:spPr>
          <a:xfrm>
            <a:off x="8641080" y="2944368"/>
            <a:ext cx="3108960" cy="658368"/>
          </a:xfrm>
          <a:prstGeom prst="rect">
            <a:avLst/>
          </a:prstGeom>
          <a:noFill/>
        </p:spPr>
        <p:txBody>
          <a:bodyPr wrap="square" lIns="0" rIns="0" tIns="0" bIns="0" anchor="ctr">
            <a:spAutoFit/>
          </a:bodyPr>
          <a:lstStyle/>
          <a:p>
            <a:pPr algn="l"/>
            <a:r>
              <a:rPr sz="1200" b="0" i="0">
                <a:solidFill>
                  <a:srgbClr val="F4F6FB"/>
                </a:solidFill>
                <a:latin typeface="Calibri"/>
              </a:rPr>
              <a:t>Título de la ventana activa (ctypes / pywinctl).</a:t>
            </a:r>
          </a:p>
        </p:txBody>
      </p:sp>
      <p:sp>
        <p:nvSpPr>
          <p:cNvPr id="25" name="Rectangle 24"/>
          <p:cNvSpPr/>
          <p:nvPr/>
        </p:nvSpPr>
        <p:spPr>
          <a:xfrm>
            <a:off x="548640" y="3739896"/>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739896"/>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739896"/>
            <a:ext cx="2103120" cy="658368"/>
          </a:xfrm>
          <a:prstGeom prst="rect">
            <a:avLst/>
          </a:prstGeom>
          <a:noFill/>
        </p:spPr>
        <p:txBody>
          <a:bodyPr wrap="square" lIns="0" rIns="0" tIns="0" bIns="0" anchor="ctr">
            <a:spAutoFit/>
          </a:bodyPr>
          <a:lstStyle/>
          <a:p>
            <a:pPr algn="l"/>
            <a:r>
              <a:rPr sz="1300" b="1" i="0">
                <a:solidFill>
                  <a:srgbClr val="F2A63B"/>
                </a:solidFill>
                <a:latin typeface="Consolas"/>
              </a:rPr>
              <a:t>config.py</a:t>
            </a:r>
          </a:p>
        </p:txBody>
      </p:sp>
      <p:sp>
        <p:nvSpPr>
          <p:cNvPr id="28" name="TextBox 27"/>
          <p:cNvSpPr txBox="1"/>
          <p:nvPr/>
        </p:nvSpPr>
        <p:spPr>
          <a:xfrm>
            <a:off x="2926080" y="3739896"/>
            <a:ext cx="3108960" cy="658368"/>
          </a:xfrm>
          <a:prstGeom prst="rect">
            <a:avLst/>
          </a:prstGeom>
          <a:noFill/>
        </p:spPr>
        <p:txBody>
          <a:bodyPr wrap="square" lIns="0" rIns="0" tIns="0" bIns="0" anchor="ctr">
            <a:spAutoFit/>
          </a:bodyPr>
          <a:lstStyle/>
          <a:p>
            <a:pPr algn="l"/>
            <a:r>
              <a:rPr sz="1200" b="0" i="0">
                <a:solidFill>
                  <a:srgbClr val="F4F6FB"/>
                </a:solidFill>
                <a:latin typeface="Calibri"/>
              </a:rPr>
              <a:t>Opciones (archivo + CLI) con validación de tipos.</a:t>
            </a:r>
          </a:p>
        </p:txBody>
      </p:sp>
      <p:sp>
        <p:nvSpPr>
          <p:cNvPr id="29" name="Rectangle 28"/>
          <p:cNvSpPr/>
          <p:nvPr/>
        </p:nvSpPr>
        <p:spPr>
          <a:xfrm>
            <a:off x="6263640" y="3739896"/>
            <a:ext cx="5577840" cy="658368"/>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63640" y="3739896"/>
            <a:ext cx="73152" cy="658368"/>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3739896"/>
            <a:ext cx="2103120" cy="658368"/>
          </a:xfrm>
          <a:prstGeom prst="rect">
            <a:avLst/>
          </a:prstGeom>
          <a:noFill/>
        </p:spPr>
        <p:txBody>
          <a:bodyPr wrap="square" lIns="0" rIns="0" tIns="0" bIns="0" anchor="ctr">
            <a:spAutoFit/>
          </a:bodyPr>
          <a:lstStyle/>
          <a:p>
            <a:pPr algn="l"/>
            <a:r>
              <a:rPr sz="1300" b="1" i="0">
                <a:solidFill>
                  <a:srgbClr val="F2A63B"/>
                </a:solidFill>
                <a:latin typeface="Consolas"/>
              </a:rPr>
              <a:t>dashboard.py</a:t>
            </a:r>
          </a:p>
        </p:txBody>
      </p:sp>
      <p:sp>
        <p:nvSpPr>
          <p:cNvPr id="32" name="TextBox 31"/>
          <p:cNvSpPr txBox="1"/>
          <p:nvPr/>
        </p:nvSpPr>
        <p:spPr>
          <a:xfrm>
            <a:off x="8641080" y="3739896"/>
            <a:ext cx="3108960" cy="658368"/>
          </a:xfrm>
          <a:prstGeom prst="rect">
            <a:avLst/>
          </a:prstGeom>
          <a:noFill/>
        </p:spPr>
        <p:txBody>
          <a:bodyPr wrap="square" lIns="0" rIns="0" tIns="0" bIns="0" anchor="ctr">
            <a:spAutoFit/>
          </a:bodyPr>
          <a:lstStyle/>
          <a:p>
            <a:pPr algn="l"/>
            <a:r>
              <a:rPr sz="1200" b="0" i="0">
                <a:solidFill>
                  <a:srgbClr val="F4F6FB"/>
                </a:solidFill>
                <a:latin typeface="Calibri"/>
              </a:rPr>
              <a:t>Servidor local que lee los registros y los expone.</a:t>
            </a:r>
          </a:p>
        </p:txBody>
      </p:sp>
      <p:sp>
        <p:nvSpPr>
          <p:cNvPr id="33" name="TextBox 32"/>
          <p:cNvSpPr txBox="1"/>
          <p:nvPr/>
        </p:nvSpPr>
        <p:spPr>
          <a:xfrm>
            <a:off x="548640" y="4709160"/>
            <a:ext cx="10972800" cy="914400"/>
          </a:xfrm>
          <a:prstGeom prst="rect">
            <a:avLst/>
          </a:prstGeom>
          <a:noFill/>
        </p:spPr>
        <p:txBody>
          <a:bodyPr wrap="square" lIns="0" rIns="0" tIns="0" bIns="0" anchor="t">
            <a:spAutoFit/>
          </a:bodyPr>
          <a:lstStyle/>
          <a:p>
            <a:pPr algn="l"/>
            <a:r>
              <a:rPr sz="1200" b="0" i="1">
                <a:solidFill>
                  <a:srgbClr val="C2CDDE"/>
                </a:solidFill>
                <a:latin typeface="Calibri"/>
              </a:rPr>
              <a:t>Separar la lógica permite probar con pytest sin un teclado físico (más de 20 pruebas, módulos captura, registro y config).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04 · CÓDIGO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Fragmento clave del código</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7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400" b="0" i="1">
                <a:solidFill>
                  <a:srgbClr val="C2CDDE"/>
                </a:solidFill>
                <a:latin typeface="Calibri"/>
              </a:rPr>
              <a:t>Devolución on_press: núcleo del listener de pynput.</a:t>
            </a:r>
          </a:p>
        </p:txBody>
      </p:sp>
      <p:sp>
        <p:nvSpPr>
          <p:cNvPr id="9" name="Rectangle 8"/>
          <p:cNvSpPr/>
          <p:nvPr/>
        </p:nvSpPr>
        <p:spPr>
          <a:xfrm>
            <a:off x="548640" y="2148840"/>
            <a:ext cx="7132320" cy="4023360"/>
          </a:xfrm>
          <a:prstGeom prst="rect">
            <a:avLst/>
          </a:prstGeom>
          <a:solidFill>
            <a:srgbClr val="061225"/>
          </a:solidFill>
          <a:ln w="9525">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40280"/>
            <a:ext cx="6675120" cy="274320"/>
          </a:xfrm>
          <a:prstGeom prst="rect">
            <a:avLst/>
          </a:prstGeom>
          <a:noFill/>
        </p:spPr>
        <p:txBody>
          <a:bodyPr wrap="square" lIns="0" rIns="0" tIns="0" bIns="0" anchor="t">
            <a:spAutoFit/>
          </a:bodyPr>
          <a:lstStyle/>
          <a:p>
            <a:pPr algn="l"/>
            <a:r>
              <a:rPr sz="1000" b="1" i="1">
                <a:solidFill>
                  <a:srgbClr val="F2A63B"/>
                </a:solidFill>
                <a:latin typeface="Calibri"/>
              </a:rPr>
              <a:t>keylogger.py</a:t>
            </a:r>
          </a:p>
        </p:txBody>
      </p:sp>
      <p:sp>
        <p:nvSpPr>
          <p:cNvPr id="11" name="TextBox 10"/>
          <p:cNvSpPr txBox="1"/>
          <p:nvPr/>
        </p:nvSpPr>
        <p:spPr>
          <a:xfrm>
            <a:off x="777240" y="2560320"/>
            <a:ext cx="6675120" cy="3566160"/>
          </a:xfrm>
          <a:prstGeom prst="rect">
            <a:avLst/>
          </a:prstGeom>
          <a:noFill/>
        </p:spPr>
        <p:txBody>
          <a:bodyPr wrap="none" lIns="0" rIns="0" tIns="0" bIns="0">
            <a:spAutoFit/>
          </a:bodyPr>
          <a:lstStyle/>
          <a:p>
            <a:pPr algn="l">
              <a:lnSpc>
                <a:spcPct val="110000"/>
              </a:lnSpc>
            </a:pPr>
            <a:r>
              <a:rPr sz="1100">
                <a:solidFill>
                  <a:srgbClr val="7DC8FF"/>
                </a:solidFill>
                <a:latin typeface="Consolas"/>
              </a:rPr>
              <a:t>def _on_press(self, tecla):</a:t>
            </a:r>
          </a:p>
          <a:p>
            <a:pPr algn="l">
              <a:lnSpc>
                <a:spcPct val="110000"/>
              </a:lnSpc>
            </a:pPr>
            <a:r>
              <a:rPr sz="1100">
                <a:solidFill>
                  <a:srgbClr val="7DC8FF"/>
                </a:solidFill>
                <a:latin typeface="Consolas"/>
              </a:rPr>
              <a:t>    if tecla == self._tecla_salir:</a:t>
            </a:r>
          </a:p>
          <a:p>
            <a:pPr algn="l">
              <a:lnSpc>
                <a:spcPct val="110000"/>
              </a:lnSpc>
            </a:pPr>
            <a:r>
              <a:rPr sz="1100">
                <a:solidFill>
                  <a:srgbClr val="7DC8FF"/>
                </a:solidFill>
                <a:latin typeface="Consolas"/>
              </a:rPr>
              <a:t>        self._parar_evt.set()</a:t>
            </a:r>
          </a:p>
          <a:p>
            <a:pPr algn="l">
              <a:lnSpc>
                <a:spcPct val="110000"/>
              </a:lnSpc>
            </a:pPr>
            <a:r>
              <a:rPr sz="1100">
                <a:solidFill>
                  <a:srgbClr val="7DC8FF"/>
                </a:solidFill>
                <a:latin typeface="Consolas"/>
              </a:rPr>
              <a:t>        return False                       # detiene el listener</a:t>
            </a:r>
          </a:p>
          <a:p>
            <a:pPr algn="l">
              <a:lnSpc>
                <a:spcPct val="110000"/>
              </a:lnSpc>
            </a:pPr>
            <a:r>
              <a:rPr sz="1100">
                <a:solidFill>
                  <a:srgbClr val="F4F6FB"/>
                </a:solidFill>
                <a:latin typeface="Consolas"/>
              </a:rPr>
              <a:t> </a:t>
            </a:r>
          </a:p>
          <a:p>
            <a:pPr algn="l">
              <a:lnSpc>
                <a:spcPct val="110000"/>
              </a:lnSpc>
            </a:pPr>
            <a:r>
              <a:rPr sz="1100">
                <a:solidFill>
                  <a:srgbClr val="7DC8FF"/>
                </a:solidFill>
                <a:latin typeface="Consolas"/>
              </a:rPr>
              <a:t>    if tecla == self._tecla_pausa:</a:t>
            </a:r>
          </a:p>
          <a:p>
            <a:pPr algn="l">
              <a:lnSpc>
                <a:spcPct val="110000"/>
              </a:lnSpc>
            </a:pPr>
            <a:r>
              <a:rPr sz="1100">
                <a:solidFill>
                  <a:srgbClr val="7DC8FF"/>
                </a:solidFill>
                <a:latin typeface="Consolas"/>
              </a:rPr>
              <a:t>        self._alternar_pausa()</a:t>
            </a:r>
          </a:p>
          <a:p>
            <a:pPr algn="l">
              <a:lnSpc>
                <a:spcPct val="110000"/>
              </a:lnSpc>
            </a:pPr>
            <a:r>
              <a:rPr sz="1100">
                <a:solidFill>
                  <a:srgbClr val="7DC8FF"/>
                </a:solidFill>
                <a:latin typeface="Consolas"/>
              </a:rPr>
              <a:t>        return None</a:t>
            </a:r>
          </a:p>
          <a:p>
            <a:pPr algn="l">
              <a:lnSpc>
                <a:spcPct val="110000"/>
              </a:lnSpc>
            </a:pPr>
            <a:r>
              <a:rPr sz="1100">
                <a:solidFill>
                  <a:srgbClr val="F4F6FB"/>
                </a:solidFill>
                <a:latin typeface="Consolas"/>
              </a:rPr>
              <a:t> </a:t>
            </a:r>
          </a:p>
          <a:p>
            <a:pPr algn="l">
              <a:lnSpc>
                <a:spcPct val="110000"/>
              </a:lnSpc>
            </a:pPr>
            <a:r>
              <a:rPr sz="1100">
                <a:solidFill>
                  <a:srgbClr val="7DC8FF"/>
                </a:solidFill>
                <a:latin typeface="Consolas"/>
              </a:rPr>
              <a:t>    if self._en_pausa:</a:t>
            </a:r>
          </a:p>
          <a:p>
            <a:pPr algn="l">
              <a:lnSpc>
                <a:spcPct val="110000"/>
              </a:lnSpc>
            </a:pPr>
            <a:r>
              <a:rPr sz="1100">
                <a:solidFill>
                  <a:srgbClr val="7DC8FF"/>
                </a:solidFill>
                <a:latin typeface="Consolas"/>
              </a:rPr>
              <a:t>        return None</a:t>
            </a:r>
          </a:p>
          <a:p>
            <a:pPr algn="l">
              <a:lnSpc>
                <a:spcPct val="110000"/>
              </a:lnSpc>
            </a:pPr>
            <a:r>
              <a:rPr sz="1100">
                <a:solidFill>
                  <a:srgbClr val="F4F6FB"/>
                </a:solidFill>
                <a:latin typeface="Consolas"/>
              </a:rPr>
              <a:t> </a:t>
            </a:r>
          </a:p>
          <a:p>
            <a:pPr algn="l">
              <a:lnSpc>
                <a:spcPct val="110000"/>
              </a:lnSpc>
            </a:pPr>
            <a:r>
              <a:rPr sz="1100">
                <a:solidFill>
                  <a:srgbClr val="7DC8FF"/>
                </a:solidFill>
                <a:latin typeface="Consolas"/>
              </a:rPr>
              <a:t>    titulo, excluida = self._procesar_ventana()</a:t>
            </a:r>
          </a:p>
          <a:p>
            <a:pPr algn="l">
              <a:lnSpc>
                <a:spcPct val="110000"/>
              </a:lnSpc>
            </a:pPr>
            <a:r>
              <a:rPr sz="1100">
                <a:solidFill>
                  <a:srgbClr val="7DC8FF"/>
                </a:solidFill>
                <a:latin typeface="Consolas"/>
              </a:rPr>
              <a:t>    if excluida:                            # ventana sensible</a:t>
            </a:r>
          </a:p>
          <a:p>
            <a:pPr algn="l">
              <a:lnSpc>
                <a:spcPct val="110000"/>
              </a:lnSpc>
            </a:pPr>
            <a:r>
              <a:rPr sz="1100">
                <a:solidFill>
                  <a:srgbClr val="7DC8FF"/>
                </a:solidFill>
                <a:latin typeface="Consolas"/>
              </a:rPr>
              <a:t>        return None                         # no se registra</a:t>
            </a:r>
          </a:p>
          <a:p>
            <a:pPr algn="l">
              <a:lnSpc>
                <a:spcPct val="110000"/>
              </a:lnSpc>
            </a:pPr>
            <a:r>
              <a:rPr sz="1100">
                <a:solidFill>
                  <a:srgbClr val="F4F6FB"/>
                </a:solidFill>
                <a:latin typeface="Consolas"/>
              </a:rPr>
              <a:t> </a:t>
            </a:r>
          </a:p>
          <a:p>
            <a:pPr algn="l">
              <a:lnSpc>
                <a:spcPct val="110000"/>
              </a:lnSpc>
            </a:pPr>
            <a:r>
              <a:rPr sz="1100">
                <a:solidFill>
                  <a:srgbClr val="7DC8FF"/>
                </a:solidFill>
                <a:latin typeface="Consolas"/>
              </a:rPr>
              <a:t>    evento = self._teclado.presionar(tecla)</a:t>
            </a:r>
          </a:p>
          <a:p>
            <a:pPr algn="l">
              <a:lnSpc>
                <a:spcPct val="110000"/>
              </a:lnSpc>
            </a:pPr>
            <a:r>
              <a:rPr sz="1100">
                <a:solidFill>
                  <a:srgbClr val="7DC8FF"/>
                </a:solidFill>
                <a:latin typeface="Consolas"/>
              </a:rPr>
              <a:t>    if evento is not None:</a:t>
            </a:r>
          </a:p>
          <a:p>
            <a:pPr algn="l">
              <a:lnSpc>
                <a:spcPct val="110000"/>
              </a:lnSpc>
            </a:pPr>
            <a:r>
              <a:rPr sz="1100">
                <a:solidFill>
                  <a:srgbClr val="7DC8FF"/>
                </a:solidFill>
                <a:latin typeface="Consolas"/>
              </a:rPr>
              <a:t>        self._reg.registrar_tecla(evento, titulo)</a:t>
            </a:r>
          </a:p>
          <a:p>
            <a:pPr algn="l">
              <a:lnSpc>
                <a:spcPct val="110000"/>
              </a:lnSpc>
            </a:pPr>
            <a:r>
              <a:rPr sz="1100">
                <a:solidFill>
                  <a:srgbClr val="7DC8FF"/>
                </a:solidFill>
                <a:latin typeface="Consolas"/>
              </a:rPr>
              <a:t>    return None</a:t>
            </a:r>
          </a:p>
        </p:txBody>
      </p:sp>
      <p:sp>
        <p:nvSpPr>
          <p:cNvPr id="12" name="TextBox 11"/>
          <p:cNvSpPr txBox="1"/>
          <p:nvPr/>
        </p:nvSpPr>
        <p:spPr>
          <a:xfrm>
            <a:off x="7863840" y="2148840"/>
            <a:ext cx="3931920" cy="4023360"/>
          </a:xfrm>
          <a:prstGeom prst="rect">
            <a:avLst/>
          </a:prstGeom>
          <a:noFill/>
        </p:spPr>
        <p:txBody>
          <a:bodyPr wrap="square" anchor="t" lIns="0" rIns="0" tIns="0" bIns="0">
            <a:spAutoFit/>
          </a:bodyPr>
          <a:lstStyle/>
          <a:p>
            <a:pPr algn="l">
              <a:lnSpc>
                <a:spcPct val="125000"/>
              </a:lnSpc>
            </a:pPr>
            <a:r>
              <a:rPr sz="1400" b="1" i="0">
                <a:solidFill>
                  <a:srgbClr val="F2A63B"/>
                </a:solidFill>
                <a:latin typeface="Calibri"/>
              </a:rPr>
              <a:t>Lo que hace esta función</a:t>
            </a:r>
          </a:p>
          <a:p>
            <a:pPr algn="l">
              <a:lnSpc>
                <a:spcPct val="125000"/>
              </a:lnSpc>
              <a:spcBef>
                <a:spcPts val="1000"/>
              </a:spcBef>
            </a:pPr>
            <a:r>
              <a:rPr sz="1200" b="0" i="0">
                <a:solidFill>
                  <a:srgbClr val="F4F6FB"/>
                </a:solidFill>
                <a:latin typeface="Calibri"/>
              </a:rPr>
              <a:t>• ESC detiene el listener de forma ordenada.</a:t>
            </a:r>
          </a:p>
          <a:p>
            <a:pPr algn="l">
              <a:lnSpc>
                <a:spcPct val="125000"/>
              </a:lnSpc>
              <a:spcBef>
                <a:spcPts val="600"/>
              </a:spcBef>
            </a:pPr>
            <a:r>
              <a:rPr sz="1200" b="0" i="0">
                <a:solidFill>
                  <a:srgbClr val="F4F6FB"/>
                </a:solidFill>
                <a:latin typeface="Calibri"/>
              </a:rPr>
              <a:t>• F9 alterna el modo pausa/reanudar.</a:t>
            </a:r>
          </a:p>
          <a:p>
            <a:pPr algn="l">
              <a:lnSpc>
                <a:spcPct val="125000"/>
              </a:lnSpc>
              <a:spcBef>
                <a:spcPts val="600"/>
              </a:spcBef>
            </a:pPr>
            <a:r>
              <a:rPr sz="1200" b="0" i="0">
                <a:solidFill>
                  <a:srgbClr val="F4F6FB"/>
                </a:solidFill>
                <a:latin typeface="Calibri"/>
              </a:rPr>
              <a:t>• Si la ventana activa es un gestor de contraseñas, se omite el registro.</a:t>
            </a:r>
          </a:p>
          <a:p>
            <a:pPr algn="l">
              <a:lnSpc>
                <a:spcPct val="125000"/>
              </a:lnSpc>
              <a:spcBef>
                <a:spcPts val="600"/>
              </a:spcBef>
            </a:pPr>
            <a:r>
              <a:rPr sz="1200" b="0" i="0">
                <a:solidFill>
                  <a:srgbClr val="F4F6FB"/>
                </a:solidFill>
                <a:latin typeface="Calibri"/>
              </a:rPr>
              <a:t>• Clasifica el evento y lo guarda en los dos archivos.</a:t>
            </a:r>
          </a:p>
          <a:p>
            <a:pPr algn="l">
              <a:lnSpc>
                <a:spcPct val="125000"/>
              </a:lnSpc>
              <a:spcBef>
                <a:spcPts val="1400"/>
              </a:spcBef>
            </a:pPr>
            <a:r>
              <a:rPr sz="1100" b="0" i="1">
                <a:solidFill>
                  <a:srgbClr val="C2CDDE"/>
                </a:solidFill>
                <a:latin typeface="Calibri"/>
              </a:rPr>
              <a:t>Todo envuelto en try/except: un fallo puntual nunca tumba la captura.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05 · AMENAZA</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Vector de ataque — Cyber Kill Chain</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8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300" b="0" i="1">
                <a:solidFill>
                  <a:srgbClr val="C2CDDE"/>
                </a:solidFill>
                <a:latin typeface="Calibri"/>
              </a:rPr>
              <a:t>Modelo de Lockheed Martin (Hutchins et al., 2011). Nuestro proyecto NO implementa las fases 2, 3, 5 ni 6.</a:t>
            </a:r>
          </a:p>
        </p:txBody>
      </p:sp>
      <p:sp>
        <p:nvSpPr>
          <p:cNvPr id="9" name="Rectangle 8"/>
          <p:cNvSpPr/>
          <p:nvPr/>
        </p:nvSpPr>
        <p:spPr>
          <a:xfrm>
            <a:off x="548640" y="2148840"/>
            <a:ext cx="3703320" cy="114300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240280"/>
            <a:ext cx="548640" cy="457200"/>
          </a:xfrm>
          <a:prstGeom prst="rect">
            <a:avLst/>
          </a:prstGeom>
          <a:noFill/>
        </p:spPr>
        <p:txBody>
          <a:bodyPr wrap="square" lIns="0" rIns="0" tIns="0" bIns="0" anchor="t">
            <a:spAutoFit/>
          </a:bodyPr>
          <a:lstStyle/>
          <a:p>
            <a:pPr algn="l"/>
            <a:r>
              <a:rPr sz="2400" b="1" i="0">
                <a:solidFill>
                  <a:srgbClr val="F2A63B"/>
                </a:solidFill>
                <a:latin typeface="Calibri"/>
              </a:rPr>
              <a:t>1</a:t>
            </a:r>
          </a:p>
        </p:txBody>
      </p:sp>
      <p:sp>
        <p:nvSpPr>
          <p:cNvPr id="11" name="TextBox 10"/>
          <p:cNvSpPr txBox="1"/>
          <p:nvPr/>
        </p:nvSpPr>
        <p:spPr>
          <a:xfrm>
            <a:off x="1371600" y="2286000"/>
            <a:ext cx="2697480" cy="365760"/>
          </a:xfrm>
          <a:prstGeom prst="rect">
            <a:avLst/>
          </a:prstGeom>
          <a:noFill/>
        </p:spPr>
        <p:txBody>
          <a:bodyPr wrap="square" lIns="0" rIns="0" tIns="0" bIns="0" anchor="t">
            <a:spAutoFit/>
          </a:bodyPr>
          <a:lstStyle/>
          <a:p>
            <a:pPr algn="l"/>
            <a:r>
              <a:rPr sz="1400" b="1" i="0">
                <a:solidFill>
                  <a:srgbClr val="F4F6FB"/>
                </a:solidFill>
                <a:latin typeface="Calibri"/>
              </a:rPr>
              <a:t>Reconocimiento</a:t>
            </a:r>
          </a:p>
        </p:txBody>
      </p:sp>
      <p:sp>
        <p:nvSpPr>
          <p:cNvPr id="12" name="TextBox 11"/>
          <p:cNvSpPr txBox="1"/>
          <p:nvPr/>
        </p:nvSpPr>
        <p:spPr>
          <a:xfrm>
            <a:off x="1371600" y="2651760"/>
            <a:ext cx="2697480" cy="594360"/>
          </a:xfrm>
          <a:prstGeom prst="rect">
            <a:avLst/>
          </a:prstGeom>
          <a:noFill/>
        </p:spPr>
        <p:txBody>
          <a:bodyPr wrap="square" lIns="0" rIns="0" tIns="0" bIns="0" anchor="t">
            <a:spAutoFit/>
          </a:bodyPr>
          <a:lstStyle/>
          <a:p>
            <a:pPr algn="l"/>
            <a:r>
              <a:rPr sz="1100" b="0" i="0">
                <a:solidFill>
                  <a:srgbClr val="C2CDDE"/>
                </a:solidFill>
                <a:latin typeface="Calibri"/>
              </a:rPr>
              <a:t>Perfilado de la víctima en redes y filtraciones.</a:t>
            </a:r>
          </a:p>
        </p:txBody>
      </p:sp>
      <p:sp>
        <p:nvSpPr>
          <p:cNvPr id="13" name="Rectangle 12"/>
          <p:cNvSpPr/>
          <p:nvPr/>
        </p:nvSpPr>
        <p:spPr>
          <a:xfrm>
            <a:off x="4343400" y="2148840"/>
            <a:ext cx="3703320" cy="1143000"/>
          </a:xfrm>
          <a:prstGeom prst="rect">
            <a:avLst/>
          </a:prstGeom>
          <a:solidFill>
            <a:srgbClr val="142A4A"/>
          </a:solidFill>
          <a:ln w="12700">
            <a:solidFill>
              <a:srgbClr val="E26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2240280"/>
            <a:ext cx="548640" cy="457200"/>
          </a:xfrm>
          <a:prstGeom prst="rect">
            <a:avLst/>
          </a:prstGeom>
          <a:noFill/>
        </p:spPr>
        <p:txBody>
          <a:bodyPr wrap="square" lIns="0" rIns="0" tIns="0" bIns="0" anchor="t">
            <a:spAutoFit/>
          </a:bodyPr>
          <a:lstStyle/>
          <a:p>
            <a:pPr algn="l"/>
            <a:r>
              <a:rPr sz="2400" b="1" i="0">
                <a:solidFill>
                  <a:srgbClr val="E26D5C"/>
                </a:solidFill>
                <a:latin typeface="Calibri"/>
              </a:rPr>
              <a:t>2</a:t>
            </a:r>
          </a:p>
        </p:txBody>
      </p:sp>
      <p:sp>
        <p:nvSpPr>
          <p:cNvPr id="15" name="TextBox 14"/>
          <p:cNvSpPr txBox="1"/>
          <p:nvPr/>
        </p:nvSpPr>
        <p:spPr>
          <a:xfrm>
            <a:off x="5166360" y="2286000"/>
            <a:ext cx="2697480" cy="365760"/>
          </a:xfrm>
          <a:prstGeom prst="rect">
            <a:avLst/>
          </a:prstGeom>
          <a:noFill/>
        </p:spPr>
        <p:txBody>
          <a:bodyPr wrap="square" lIns="0" rIns="0" tIns="0" bIns="0" anchor="t">
            <a:spAutoFit/>
          </a:bodyPr>
          <a:lstStyle/>
          <a:p>
            <a:pPr algn="l"/>
            <a:r>
              <a:rPr sz="1400" b="1" i="0">
                <a:solidFill>
                  <a:srgbClr val="F4F6FB"/>
                </a:solidFill>
                <a:latin typeface="Calibri"/>
              </a:rPr>
              <a:t>Weaponization</a:t>
            </a:r>
          </a:p>
        </p:txBody>
      </p:sp>
      <p:sp>
        <p:nvSpPr>
          <p:cNvPr id="16" name="TextBox 15"/>
          <p:cNvSpPr txBox="1"/>
          <p:nvPr/>
        </p:nvSpPr>
        <p:spPr>
          <a:xfrm>
            <a:off x="5166360" y="2651760"/>
            <a:ext cx="2697480" cy="594360"/>
          </a:xfrm>
          <a:prstGeom prst="rect">
            <a:avLst/>
          </a:prstGeom>
          <a:noFill/>
        </p:spPr>
        <p:txBody>
          <a:bodyPr wrap="square" lIns="0" rIns="0" tIns="0" bIns="0" anchor="t">
            <a:spAutoFit/>
          </a:bodyPr>
          <a:lstStyle/>
          <a:p>
            <a:pPr algn="l"/>
            <a:r>
              <a:rPr sz="1100" b="0" i="0">
                <a:solidFill>
                  <a:srgbClr val="C2CDDE"/>
                </a:solidFill>
                <a:latin typeface="Calibri"/>
              </a:rPr>
              <a:t>Keylogger + dropper disfrazado (factura.pdf.exe).</a:t>
            </a:r>
          </a:p>
        </p:txBody>
      </p:sp>
      <p:sp>
        <p:nvSpPr>
          <p:cNvPr id="17" name="Rectangle 16"/>
          <p:cNvSpPr/>
          <p:nvPr/>
        </p:nvSpPr>
        <p:spPr>
          <a:xfrm>
            <a:off x="8138160" y="2148840"/>
            <a:ext cx="3703320" cy="1143000"/>
          </a:xfrm>
          <a:prstGeom prst="rect">
            <a:avLst/>
          </a:prstGeom>
          <a:solidFill>
            <a:srgbClr val="142A4A"/>
          </a:solidFill>
          <a:ln w="12700">
            <a:solidFill>
              <a:srgbClr val="E26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240280"/>
            <a:ext cx="548640" cy="457200"/>
          </a:xfrm>
          <a:prstGeom prst="rect">
            <a:avLst/>
          </a:prstGeom>
          <a:noFill/>
        </p:spPr>
        <p:txBody>
          <a:bodyPr wrap="square" lIns="0" rIns="0" tIns="0" bIns="0" anchor="t">
            <a:spAutoFit/>
          </a:bodyPr>
          <a:lstStyle/>
          <a:p>
            <a:pPr algn="l"/>
            <a:r>
              <a:rPr sz="2400" b="1" i="0">
                <a:solidFill>
                  <a:srgbClr val="E26D5C"/>
                </a:solidFill>
                <a:latin typeface="Calibri"/>
              </a:rPr>
              <a:t>3</a:t>
            </a:r>
          </a:p>
        </p:txBody>
      </p:sp>
      <p:sp>
        <p:nvSpPr>
          <p:cNvPr id="19" name="TextBox 18"/>
          <p:cNvSpPr txBox="1"/>
          <p:nvPr/>
        </p:nvSpPr>
        <p:spPr>
          <a:xfrm>
            <a:off x="8961120" y="2286000"/>
            <a:ext cx="2697480" cy="365760"/>
          </a:xfrm>
          <a:prstGeom prst="rect">
            <a:avLst/>
          </a:prstGeom>
          <a:noFill/>
        </p:spPr>
        <p:txBody>
          <a:bodyPr wrap="square" lIns="0" rIns="0" tIns="0" bIns="0" anchor="t">
            <a:spAutoFit/>
          </a:bodyPr>
          <a:lstStyle/>
          <a:p>
            <a:pPr algn="l"/>
            <a:r>
              <a:rPr sz="1400" b="1" i="0">
                <a:solidFill>
                  <a:srgbClr val="F4F6FB"/>
                </a:solidFill>
                <a:latin typeface="Calibri"/>
              </a:rPr>
              <a:t>Entrega</a:t>
            </a:r>
          </a:p>
        </p:txBody>
      </p:sp>
      <p:sp>
        <p:nvSpPr>
          <p:cNvPr id="20" name="TextBox 19"/>
          <p:cNvSpPr txBox="1"/>
          <p:nvPr/>
        </p:nvSpPr>
        <p:spPr>
          <a:xfrm>
            <a:off x="8961120" y="2651760"/>
            <a:ext cx="2697480" cy="594360"/>
          </a:xfrm>
          <a:prstGeom prst="rect">
            <a:avLst/>
          </a:prstGeom>
          <a:noFill/>
        </p:spPr>
        <p:txBody>
          <a:bodyPr wrap="square" lIns="0" rIns="0" tIns="0" bIns="0" anchor="t">
            <a:spAutoFit/>
          </a:bodyPr>
          <a:lstStyle/>
          <a:p>
            <a:pPr algn="l"/>
            <a:r>
              <a:rPr sz="1100" b="0" i="0">
                <a:solidFill>
                  <a:srgbClr val="C2CDDE"/>
                </a:solidFill>
                <a:latin typeface="Calibri"/>
              </a:rPr>
              <a:t>Phishing, mensajería, USB malicioso (BadUSB).</a:t>
            </a:r>
          </a:p>
        </p:txBody>
      </p:sp>
      <p:sp>
        <p:nvSpPr>
          <p:cNvPr id="21" name="Rectangle 20"/>
          <p:cNvSpPr/>
          <p:nvPr/>
        </p:nvSpPr>
        <p:spPr>
          <a:xfrm>
            <a:off x="548640" y="3383280"/>
            <a:ext cx="3703320" cy="114300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74720"/>
            <a:ext cx="548640" cy="457200"/>
          </a:xfrm>
          <a:prstGeom prst="rect">
            <a:avLst/>
          </a:prstGeom>
          <a:noFill/>
        </p:spPr>
        <p:txBody>
          <a:bodyPr wrap="square" lIns="0" rIns="0" tIns="0" bIns="0" anchor="t">
            <a:spAutoFit/>
          </a:bodyPr>
          <a:lstStyle/>
          <a:p>
            <a:pPr algn="l"/>
            <a:r>
              <a:rPr sz="2400" b="1" i="0">
                <a:solidFill>
                  <a:srgbClr val="F2A63B"/>
                </a:solidFill>
                <a:latin typeface="Calibri"/>
              </a:rPr>
              <a:t>4</a:t>
            </a:r>
          </a:p>
        </p:txBody>
      </p:sp>
      <p:sp>
        <p:nvSpPr>
          <p:cNvPr id="23" name="TextBox 22"/>
          <p:cNvSpPr txBox="1"/>
          <p:nvPr/>
        </p:nvSpPr>
        <p:spPr>
          <a:xfrm>
            <a:off x="1371600" y="3520440"/>
            <a:ext cx="2697480" cy="365760"/>
          </a:xfrm>
          <a:prstGeom prst="rect">
            <a:avLst/>
          </a:prstGeom>
          <a:noFill/>
        </p:spPr>
        <p:txBody>
          <a:bodyPr wrap="square" lIns="0" rIns="0" tIns="0" bIns="0" anchor="t">
            <a:spAutoFit/>
          </a:bodyPr>
          <a:lstStyle/>
          <a:p>
            <a:pPr algn="l"/>
            <a:r>
              <a:rPr sz="1400" b="1" i="0">
                <a:solidFill>
                  <a:srgbClr val="F4F6FB"/>
                </a:solidFill>
                <a:latin typeface="Calibri"/>
              </a:rPr>
              <a:t>Explotación</a:t>
            </a:r>
          </a:p>
        </p:txBody>
      </p:sp>
      <p:sp>
        <p:nvSpPr>
          <p:cNvPr id="24" name="TextBox 23"/>
          <p:cNvSpPr txBox="1"/>
          <p:nvPr/>
        </p:nvSpPr>
        <p:spPr>
          <a:xfrm>
            <a:off x="1371600" y="3886200"/>
            <a:ext cx="2697480" cy="594360"/>
          </a:xfrm>
          <a:prstGeom prst="rect">
            <a:avLst/>
          </a:prstGeom>
          <a:noFill/>
        </p:spPr>
        <p:txBody>
          <a:bodyPr wrap="square" lIns="0" rIns="0" tIns="0" bIns="0" anchor="t">
            <a:spAutoFit/>
          </a:bodyPr>
          <a:lstStyle/>
          <a:p>
            <a:pPr algn="l"/>
            <a:r>
              <a:rPr sz="1100" b="0" i="0">
                <a:solidFill>
                  <a:srgbClr val="C2CDDE"/>
                </a:solidFill>
                <a:latin typeface="Calibri"/>
              </a:rPr>
              <a:t>La víctima ejecuta el archivo recibido.</a:t>
            </a:r>
          </a:p>
        </p:txBody>
      </p:sp>
      <p:sp>
        <p:nvSpPr>
          <p:cNvPr id="25" name="Rectangle 24"/>
          <p:cNvSpPr/>
          <p:nvPr/>
        </p:nvSpPr>
        <p:spPr>
          <a:xfrm>
            <a:off x="4343400" y="3383280"/>
            <a:ext cx="3703320" cy="1143000"/>
          </a:xfrm>
          <a:prstGeom prst="rect">
            <a:avLst/>
          </a:prstGeom>
          <a:solidFill>
            <a:srgbClr val="142A4A"/>
          </a:solidFill>
          <a:ln w="12700">
            <a:solidFill>
              <a:srgbClr val="E26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80" y="3474720"/>
            <a:ext cx="548640" cy="457200"/>
          </a:xfrm>
          <a:prstGeom prst="rect">
            <a:avLst/>
          </a:prstGeom>
          <a:noFill/>
        </p:spPr>
        <p:txBody>
          <a:bodyPr wrap="square" lIns="0" rIns="0" tIns="0" bIns="0" anchor="t">
            <a:spAutoFit/>
          </a:bodyPr>
          <a:lstStyle/>
          <a:p>
            <a:pPr algn="l"/>
            <a:r>
              <a:rPr sz="2400" b="1" i="0">
                <a:solidFill>
                  <a:srgbClr val="E26D5C"/>
                </a:solidFill>
                <a:latin typeface="Calibri"/>
              </a:rPr>
              <a:t>5</a:t>
            </a:r>
          </a:p>
        </p:txBody>
      </p:sp>
      <p:sp>
        <p:nvSpPr>
          <p:cNvPr id="27" name="TextBox 26"/>
          <p:cNvSpPr txBox="1"/>
          <p:nvPr/>
        </p:nvSpPr>
        <p:spPr>
          <a:xfrm>
            <a:off x="5166360" y="3520440"/>
            <a:ext cx="2697480" cy="365760"/>
          </a:xfrm>
          <a:prstGeom prst="rect">
            <a:avLst/>
          </a:prstGeom>
          <a:noFill/>
        </p:spPr>
        <p:txBody>
          <a:bodyPr wrap="square" lIns="0" rIns="0" tIns="0" bIns="0" anchor="t">
            <a:spAutoFit/>
          </a:bodyPr>
          <a:lstStyle/>
          <a:p>
            <a:pPr algn="l"/>
            <a:r>
              <a:rPr sz="1400" b="1" i="0">
                <a:solidFill>
                  <a:srgbClr val="F4F6FB"/>
                </a:solidFill>
                <a:latin typeface="Calibri"/>
              </a:rPr>
              <a:t>Instalación</a:t>
            </a:r>
          </a:p>
        </p:txBody>
      </p:sp>
      <p:sp>
        <p:nvSpPr>
          <p:cNvPr id="28" name="TextBox 27"/>
          <p:cNvSpPr txBox="1"/>
          <p:nvPr/>
        </p:nvSpPr>
        <p:spPr>
          <a:xfrm>
            <a:off x="5166360" y="3886200"/>
            <a:ext cx="2697480" cy="594360"/>
          </a:xfrm>
          <a:prstGeom prst="rect">
            <a:avLst/>
          </a:prstGeom>
          <a:noFill/>
        </p:spPr>
        <p:txBody>
          <a:bodyPr wrap="square" lIns="0" rIns="0" tIns="0" bIns="0" anchor="t">
            <a:spAutoFit/>
          </a:bodyPr>
          <a:lstStyle/>
          <a:p>
            <a:pPr algn="l"/>
            <a:r>
              <a:rPr sz="1100" b="0" i="0">
                <a:solidFill>
                  <a:srgbClr val="C2CDDE"/>
                </a:solidFill>
                <a:latin typeface="Calibri"/>
              </a:rPr>
              <a:t>Copia al perfil del usuario (sin privilegios).</a:t>
            </a:r>
          </a:p>
        </p:txBody>
      </p:sp>
      <p:sp>
        <p:nvSpPr>
          <p:cNvPr id="29" name="Rectangle 28"/>
          <p:cNvSpPr/>
          <p:nvPr/>
        </p:nvSpPr>
        <p:spPr>
          <a:xfrm>
            <a:off x="8138160" y="3383280"/>
            <a:ext cx="3703320" cy="1143000"/>
          </a:xfrm>
          <a:prstGeom prst="rect">
            <a:avLst/>
          </a:prstGeom>
          <a:solidFill>
            <a:srgbClr val="142A4A"/>
          </a:solidFill>
          <a:ln w="12700">
            <a:solidFill>
              <a:srgbClr val="E26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474720"/>
            <a:ext cx="548640" cy="457200"/>
          </a:xfrm>
          <a:prstGeom prst="rect">
            <a:avLst/>
          </a:prstGeom>
          <a:noFill/>
        </p:spPr>
        <p:txBody>
          <a:bodyPr wrap="square" lIns="0" rIns="0" tIns="0" bIns="0" anchor="t">
            <a:spAutoFit/>
          </a:bodyPr>
          <a:lstStyle/>
          <a:p>
            <a:pPr algn="l"/>
            <a:r>
              <a:rPr sz="2400" b="1" i="0">
                <a:solidFill>
                  <a:srgbClr val="E26D5C"/>
                </a:solidFill>
                <a:latin typeface="Calibri"/>
              </a:rPr>
              <a:t>6</a:t>
            </a:r>
          </a:p>
        </p:txBody>
      </p:sp>
      <p:sp>
        <p:nvSpPr>
          <p:cNvPr id="31" name="TextBox 30"/>
          <p:cNvSpPr txBox="1"/>
          <p:nvPr/>
        </p:nvSpPr>
        <p:spPr>
          <a:xfrm>
            <a:off x="8961120" y="3520440"/>
            <a:ext cx="2697480" cy="365760"/>
          </a:xfrm>
          <a:prstGeom prst="rect">
            <a:avLst/>
          </a:prstGeom>
          <a:noFill/>
        </p:spPr>
        <p:txBody>
          <a:bodyPr wrap="square" lIns="0" rIns="0" tIns="0" bIns="0" anchor="t">
            <a:spAutoFit/>
          </a:bodyPr>
          <a:lstStyle/>
          <a:p>
            <a:pPr algn="l"/>
            <a:r>
              <a:rPr sz="1400" b="1" i="0">
                <a:solidFill>
                  <a:srgbClr val="F4F6FB"/>
                </a:solidFill>
                <a:latin typeface="Calibri"/>
              </a:rPr>
              <a:t>C&amp;C + exfiltración</a:t>
            </a:r>
          </a:p>
        </p:txBody>
      </p:sp>
      <p:sp>
        <p:nvSpPr>
          <p:cNvPr id="32" name="TextBox 31"/>
          <p:cNvSpPr txBox="1"/>
          <p:nvPr/>
        </p:nvSpPr>
        <p:spPr>
          <a:xfrm>
            <a:off x="8961120" y="3886200"/>
            <a:ext cx="2697480" cy="594360"/>
          </a:xfrm>
          <a:prstGeom prst="rect">
            <a:avLst/>
          </a:prstGeom>
          <a:noFill/>
        </p:spPr>
        <p:txBody>
          <a:bodyPr wrap="square" lIns="0" rIns="0" tIns="0" bIns="0" anchor="t">
            <a:spAutoFit/>
          </a:bodyPr>
          <a:lstStyle/>
          <a:p>
            <a:pPr algn="l"/>
            <a:r>
              <a:rPr sz="1100" b="0" i="0">
                <a:solidFill>
                  <a:srgbClr val="C2CDDE"/>
                </a:solidFill>
                <a:latin typeface="Calibri"/>
              </a:rPr>
              <a:t>Envía capturas por HTTPS, SMTP, Telegram.</a:t>
            </a:r>
          </a:p>
        </p:txBody>
      </p:sp>
      <p:sp>
        <p:nvSpPr>
          <p:cNvPr id="33" name="Rectangle 32"/>
          <p:cNvSpPr/>
          <p:nvPr/>
        </p:nvSpPr>
        <p:spPr>
          <a:xfrm>
            <a:off x="548640" y="4617720"/>
            <a:ext cx="11292840" cy="114300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709160"/>
            <a:ext cx="548640" cy="457200"/>
          </a:xfrm>
          <a:prstGeom prst="rect">
            <a:avLst/>
          </a:prstGeom>
          <a:noFill/>
        </p:spPr>
        <p:txBody>
          <a:bodyPr wrap="square" lIns="0" rIns="0" tIns="0" bIns="0" anchor="t">
            <a:spAutoFit/>
          </a:bodyPr>
          <a:lstStyle/>
          <a:p>
            <a:pPr algn="l"/>
            <a:r>
              <a:rPr sz="2400" b="1" i="0">
                <a:solidFill>
                  <a:srgbClr val="F2A63B"/>
                </a:solidFill>
                <a:latin typeface="Calibri"/>
              </a:rPr>
              <a:t>7</a:t>
            </a:r>
          </a:p>
        </p:txBody>
      </p:sp>
      <p:sp>
        <p:nvSpPr>
          <p:cNvPr id="35" name="TextBox 34"/>
          <p:cNvSpPr txBox="1"/>
          <p:nvPr/>
        </p:nvSpPr>
        <p:spPr>
          <a:xfrm>
            <a:off x="1371600" y="4754880"/>
            <a:ext cx="10287000" cy="365760"/>
          </a:xfrm>
          <a:prstGeom prst="rect">
            <a:avLst/>
          </a:prstGeom>
          <a:noFill/>
        </p:spPr>
        <p:txBody>
          <a:bodyPr wrap="square" lIns="0" rIns="0" tIns="0" bIns="0" anchor="t">
            <a:spAutoFit/>
          </a:bodyPr>
          <a:lstStyle/>
          <a:p>
            <a:pPr algn="l"/>
            <a:r>
              <a:rPr sz="1400" b="1" i="0">
                <a:solidFill>
                  <a:srgbClr val="F4F6FB"/>
                </a:solidFill>
                <a:latin typeface="Calibri"/>
              </a:rPr>
              <a:t>Acciones</a:t>
            </a:r>
          </a:p>
        </p:txBody>
      </p:sp>
      <p:sp>
        <p:nvSpPr>
          <p:cNvPr id="36" name="TextBox 35"/>
          <p:cNvSpPr txBox="1"/>
          <p:nvPr/>
        </p:nvSpPr>
        <p:spPr>
          <a:xfrm>
            <a:off x="1371600" y="5120640"/>
            <a:ext cx="10287000" cy="594360"/>
          </a:xfrm>
          <a:prstGeom prst="rect">
            <a:avLst/>
          </a:prstGeom>
          <a:noFill/>
        </p:spPr>
        <p:txBody>
          <a:bodyPr wrap="square" lIns="0" rIns="0" tIns="0" bIns="0" anchor="t">
            <a:spAutoFit/>
          </a:bodyPr>
          <a:lstStyle/>
          <a:p>
            <a:pPr algn="l"/>
            <a:r>
              <a:rPr sz="1100" b="0" i="0">
                <a:solidFill>
                  <a:srgbClr val="C2CDDE"/>
                </a:solidFill>
                <a:latin typeface="Calibri"/>
              </a:rPr>
              <a:t>Robo de credenciales → banca, correo, empresa.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06 · DEMO</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Demostración en vivo</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9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400" b="0" i="1">
                <a:solidFill>
                  <a:srgbClr val="C2CDDE"/>
                </a:solidFill>
                <a:latin typeface="Calibri"/>
              </a:rPr>
              <a:t>Ejecución controlada en el equipo del grupo:</a:t>
            </a:r>
          </a:p>
        </p:txBody>
      </p:sp>
      <p:sp>
        <p:nvSpPr>
          <p:cNvPr id="9" name="TextBox 8"/>
          <p:cNvSpPr txBox="1"/>
          <p:nvPr/>
        </p:nvSpPr>
        <p:spPr>
          <a:xfrm>
            <a:off x="548640" y="2148840"/>
            <a:ext cx="5486400" cy="3840480"/>
          </a:xfrm>
          <a:prstGeom prst="rect">
            <a:avLst/>
          </a:prstGeom>
          <a:noFill/>
        </p:spPr>
        <p:txBody>
          <a:bodyPr wrap="square" anchor="t" lIns="0" rIns="0" tIns="0" bIns="0">
            <a:spAutoFit/>
          </a:bodyPr>
          <a:lstStyle/>
          <a:p>
            <a:pPr algn="l">
              <a:lnSpc>
                <a:spcPct val="125000"/>
              </a:lnSpc>
              <a:spcBef>
                <a:spcPts val="1000"/>
              </a:spcBef>
            </a:pPr>
            <a:r>
              <a:rPr sz="1300" b="0" i="0">
                <a:solidFill>
                  <a:srgbClr val="F4F6FB"/>
                </a:solidFill>
                <a:latin typeface="Calibri"/>
              </a:rPr>
              <a:t>• Lanzamos `python keylogger.py` y aceptamos el consentimiento.</a:t>
            </a:r>
          </a:p>
          <a:p>
            <a:pPr algn="l">
              <a:lnSpc>
                <a:spcPct val="125000"/>
              </a:lnSpc>
              <a:spcBef>
                <a:spcPts val="1000"/>
              </a:spcBef>
            </a:pPr>
            <a:r>
              <a:rPr sz="1300" b="0" i="0">
                <a:solidFill>
                  <a:srgbClr val="F4F6FB"/>
                </a:solidFill>
                <a:latin typeface="Calibri"/>
              </a:rPr>
              <a:t>• Escribimos texto en el Bloc de notas y en el navegador.</a:t>
            </a:r>
          </a:p>
          <a:p>
            <a:pPr algn="l">
              <a:lnSpc>
                <a:spcPct val="125000"/>
              </a:lnSpc>
              <a:spcBef>
                <a:spcPts val="1000"/>
              </a:spcBef>
            </a:pPr>
            <a:r>
              <a:rPr sz="1300" b="0" i="0">
                <a:solidFill>
                  <a:srgbClr val="F4F6FB"/>
                </a:solidFill>
                <a:latin typeface="Calibri"/>
              </a:rPr>
              <a:t>• Abrimos un gestor de contraseñas → la captura se pausa sola.</a:t>
            </a:r>
          </a:p>
          <a:p>
            <a:pPr algn="l">
              <a:lnSpc>
                <a:spcPct val="125000"/>
              </a:lnSpc>
              <a:spcBef>
                <a:spcPts val="1000"/>
              </a:spcBef>
            </a:pPr>
            <a:r>
              <a:rPr sz="1300" b="0" i="0">
                <a:solidFill>
                  <a:srgbClr val="F4F6FB"/>
                </a:solidFill>
                <a:latin typeface="Calibri"/>
              </a:rPr>
              <a:t>• Presionamos ESC → cierre ordenado y guardado de la sesión.</a:t>
            </a:r>
          </a:p>
          <a:p>
            <a:pPr algn="l">
              <a:lnSpc>
                <a:spcPct val="125000"/>
              </a:lnSpc>
              <a:spcBef>
                <a:spcPts val="1000"/>
              </a:spcBef>
            </a:pPr>
            <a:r>
              <a:rPr sz="1300" b="0" i="0">
                <a:solidFill>
                  <a:srgbClr val="F4F6FB"/>
                </a:solidFill>
                <a:latin typeface="Calibri"/>
              </a:rPr>
              <a:t>• Abrimos registro_teclas.txt para mostrar lo capturado.</a:t>
            </a:r>
          </a:p>
        </p:txBody>
      </p:sp>
      <p:sp>
        <p:nvSpPr>
          <p:cNvPr id="10" name="Rectangle 9"/>
          <p:cNvSpPr/>
          <p:nvPr/>
        </p:nvSpPr>
        <p:spPr>
          <a:xfrm>
            <a:off x="6400800" y="2148840"/>
            <a:ext cx="5394960" cy="4023360"/>
          </a:xfrm>
          <a:prstGeom prst="rect">
            <a:avLst/>
          </a:prstGeom>
          <a:solidFill>
            <a:srgbClr val="061225"/>
          </a:solidFill>
          <a:ln w="9525">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29400" y="2240280"/>
            <a:ext cx="4937760" cy="274320"/>
          </a:xfrm>
          <a:prstGeom prst="rect">
            <a:avLst/>
          </a:prstGeom>
          <a:noFill/>
        </p:spPr>
        <p:txBody>
          <a:bodyPr wrap="square" lIns="0" rIns="0" tIns="0" bIns="0" anchor="t">
            <a:spAutoFit/>
          </a:bodyPr>
          <a:lstStyle/>
          <a:p>
            <a:pPr algn="l"/>
            <a:r>
              <a:rPr sz="1000" b="1" i="1">
                <a:solidFill>
                  <a:srgbClr val="F2A63B"/>
                </a:solidFill>
                <a:latin typeface="Calibri"/>
              </a:rPr>
              <a:t>registro_teclas.txt (fragmento real)</a:t>
            </a:r>
          </a:p>
        </p:txBody>
      </p:sp>
      <p:sp>
        <p:nvSpPr>
          <p:cNvPr id="12" name="TextBox 11"/>
          <p:cNvSpPr txBox="1"/>
          <p:nvPr/>
        </p:nvSpPr>
        <p:spPr>
          <a:xfrm>
            <a:off x="6629400" y="2560320"/>
            <a:ext cx="4937760" cy="3566160"/>
          </a:xfrm>
          <a:prstGeom prst="rect">
            <a:avLst/>
          </a:prstGeom>
          <a:noFill/>
        </p:spPr>
        <p:txBody>
          <a:bodyPr wrap="none" lIns="0" rIns="0" tIns="0" bIns="0">
            <a:spAutoFit/>
          </a:bodyPr>
          <a:lstStyle/>
          <a:p>
            <a:pPr algn="l">
              <a:lnSpc>
                <a:spcPct val="110000"/>
              </a:lnSpc>
            </a:pPr>
            <a:r>
              <a:rPr sz="1100">
                <a:solidFill>
                  <a:srgbClr val="F4F6FB"/>
                </a:solidFill>
                <a:latin typeface="Consolas"/>
              </a:rPr>
              <a:t>[14:24:34] === Inicio de sesión ===</a:t>
            </a:r>
          </a:p>
          <a:p>
            <a:pPr algn="l">
              <a:lnSpc>
                <a:spcPct val="110000"/>
              </a:lnSpc>
            </a:pPr>
            <a:r>
              <a:rPr sz="1100">
                <a:solidFill>
                  <a:srgbClr val="F4F6FB"/>
                </a:solidFill>
                <a:latin typeface="Consolas"/>
              </a:rPr>
              <a:t>[14:24:35] Bloc de notas | h</a:t>
            </a:r>
          </a:p>
          <a:p>
            <a:pPr algn="l">
              <a:lnSpc>
                <a:spcPct val="110000"/>
              </a:lnSpc>
            </a:pPr>
            <a:r>
              <a:rPr sz="1100">
                <a:solidFill>
                  <a:srgbClr val="F4F6FB"/>
                </a:solidFill>
                <a:latin typeface="Consolas"/>
              </a:rPr>
              <a:t>[14:24:35] Bloc de notas | o</a:t>
            </a:r>
          </a:p>
          <a:p>
            <a:pPr algn="l">
              <a:lnSpc>
                <a:spcPct val="110000"/>
              </a:lnSpc>
            </a:pPr>
            <a:r>
              <a:rPr sz="1100">
                <a:solidFill>
                  <a:srgbClr val="F4F6FB"/>
                </a:solidFill>
                <a:latin typeface="Consolas"/>
              </a:rPr>
              <a:t>[14:24:35] Bloc de notas | l</a:t>
            </a:r>
          </a:p>
          <a:p>
            <a:pPr algn="l">
              <a:lnSpc>
                <a:spcPct val="110000"/>
              </a:lnSpc>
            </a:pPr>
            <a:r>
              <a:rPr sz="1100">
                <a:solidFill>
                  <a:srgbClr val="F4F6FB"/>
                </a:solidFill>
                <a:latin typeface="Consolas"/>
              </a:rPr>
              <a:t>[14:24:35] Bloc de notas | a</a:t>
            </a:r>
          </a:p>
          <a:p>
            <a:pPr algn="l">
              <a:lnSpc>
                <a:spcPct val="110000"/>
              </a:lnSpc>
            </a:pPr>
            <a:r>
              <a:rPr sz="1100">
                <a:solidFill>
                  <a:srgbClr val="F4F6FB"/>
                </a:solidFill>
                <a:latin typeface="Consolas"/>
              </a:rPr>
              <a:t>[14:24:36] Bloc de notas | [space]</a:t>
            </a:r>
          </a:p>
          <a:p>
            <a:pPr algn="l">
              <a:lnSpc>
                <a:spcPct val="110000"/>
              </a:lnSpc>
            </a:pPr>
            <a:r>
              <a:rPr sz="1100">
                <a:solidFill>
                  <a:srgbClr val="F4F6FB"/>
                </a:solidFill>
                <a:latin typeface="Consolas"/>
              </a:rPr>
              <a:t>[14:24:36] Bloc de notas | mundo</a:t>
            </a:r>
          </a:p>
          <a:p>
            <a:pPr algn="l">
              <a:lnSpc>
                <a:spcPct val="110000"/>
              </a:lnSpc>
            </a:pPr>
            <a:r>
              <a:rPr sz="1100">
                <a:solidFill>
                  <a:srgbClr val="F4F6FB"/>
                </a:solidFill>
                <a:latin typeface="Consolas"/>
              </a:rPr>
              <a:t>[14:24:40] Bitwarden     | [NOTA] Captura OMITIDA</a:t>
            </a:r>
          </a:p>
          <a:p>
            <a:pPr algn="l">
              <a:lnSpc>
                <a:spcPct val="110000"/>
              </a:lnSpc>
            </a:pPr>
            <a:r>
              <a:rPr sz="1100">
                <a:solidFill>
                  <a:srgbClr val="F4F6FB"/>
                </a:solidFill>
                <a:latin typeface="Consolas"/>
              </a:rPr>
              <a:t>                           (ventana sensible)</a:t>
            </a:r>
          </a:p>
          <a:p>
            <a:pPr algn="l">
              <a:lnSpc>
                <a:spcPct val="110000"/>
              </a:lnSpc>
            </a:pPr>
            <a:r>
              <a:rPr sz="1100">
                <a:solidFill>
                  <a:srgbClr val="F4F6FB"/>
                </a:solidFill>
                <a:latin typeface="Consolas"/>
              </a:rPr>
              <a:t>[14:24:52] Bloc de notas | [NOTA] Reanudada</a:t>
            </a:r>
          </a:p>
          <a:p>
            <a:pPr algn="l">
              <a:lnSpc>
                <a:spcPct val="110000"/>
              </a:lnSpc>
            </a:pPr>
            <a:r>
              <a:rPr sz="1100">
                <a:solidFill>
                  <a:srgbClr val="F4F6FB"/>
                </a:solidFill>
                <a:latin typeface="Consolas"/>
              </a:rPr>
              <a:t>[14:29:13] === Fin de sesión (ESC)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07 · PANEL</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Panel web local de análisis</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10 / 14</a:t>
            </a:r>
          </a:p>
        </p:txBody>
      </p:sp>
      <p:sp>
        <p:nvSpPr>
          <p:cNvPr id="8" name="TextBox 7"/>
          <p:cNvSpPr txBox="1"/>
          <p:nvPr/>
        </p:nvSpPr>
        <p:spPr>
          <a:xfrm>
            <a:off x="548640" y="1691640"/>
            <a:ext cx="10972800" cy="365760"/>
          </a:xfrm>
          <a:prstGeom prst="rect">
            <a:avLst/>
          </a:prstGeom>
          <a:noFill/>
        </p:spPr>
        <p:txBody>
          <a:bodyPr wrap="square" lIns="0" rIns="0" tIns="0" bIns="0" anchor="t">
            <a:spAutoFit/>
          </a:bodyPr>
          <a:lstStyle/>
          <a:p>
            <a:pPr algn="l"/>
            <a:r>
              <a:rPr sz="1400" b="0" i="1">
                <a:solidFill>
                  <a:srgbClr val="C2CDDE"/>
                </a:solidFill>
                <a:latin typeface="Calibri"/>
              </a:rPr>
              <a:t>Servidor Python puro (sin dependencias externas) → 127.0.0.1:8000</a:t>
            </a:r>
          </a:p>
        </p:txBody>
      </p:sp>
      <p:sp>
        <p:nvSpPr>
          <p:cNvPr id="9" name="Rectangle 8"/>
          <p:cNvSpPr/>
          <p:nvPr/>
        </p:nvSpPr>
        <p:spPr>
          <a:xfrm>
            <a:off x="548640" y="2148840"/>
            <a:ext cx="11064240" cy="77724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148840"/>
            <a:ext cx="91440" cy="77724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148840"/>
            <a:ext cx="2560320" cy="777240"/>
          </a:xfrm>
          <a:prstGeom prst="rect">
            <a:avLst/>
          </a:prstGeom>
          <a:noFill/>
        </p:spPr>
        <p:txBody>
          <a:bodyPr wrap="square" lIns="0" rIns="0" tIns="0" bIns="0" anchor="ctr">
            <a:spAutoFit/>
          </a:bodyPr>
          <a:lstStyle/>
          <a:p>
            <a:pPr algn="l"/>
            <a:r>
              <a:rPr sz="1500" b="1" i="0">
                <a:solidFill>
                  <a:srgbClr val="F2A63B"/>
                </a:solidFill>
                <a:latin typeface="Calibri"/>
              </a:rPr>
              <a:t>Tarjetas</a:t>
            </a:r>
          </a:p>
        </p:txBody>
      </p:sp>
      <p:sp>
        <p:nvSpPr>
          <p:cNvPr id="12" name="TextBox 11"/>
          <p:cNvSpPr txBox="1"/>
          <p:nvPr/>
        </p:nvSpPr>
        <p:spPr>
          <a:xfrm>
            <a:off x="3291840" y="2148840"/>
            <a:ext cx="8229600" cy="777240"/>
          </a:xfrm>
          <a:prstGeom prst="rect">
            <a:avLst/>
          </a:prstGeom>
          <a:noFill/>
        </p:spPr>
        <p:txBody>
          <a:bodyPr wrap="square" lIns="0" rIns="0" tIns="0" bIns="0" anchor="ctr">
            <a:spAutoFit/>
          </a:bodyPr>
          <a:lstStyle/>
          <a:p>
            <a:pPr algn="l"/>
            <a:r>
              <a:rPr sz="1300" b="0" i="0">
                <a:solidFill>
                  <a:srgbClr val="F4F6FB"/>
                </a:solidFill>
                <a:latin typeface="Calibri"/>
              </a:rPr>
              <a:t>Totales: pulsaciones, caracteres, especiales, ventanas, duración.</a:t>
            </a:r>
          </a:p>
        </p:txBody>
      </p:sp>
      <p:sp>
        <p:nvSpPr>
          <p:cNvPr id="13" name="Rectangle 12"/>
          <p:cNvSpPr/>
          <p:nvPr/>
        </p:nvSpPr>
        <p:spPr>
          <a:xfrm>
            <a:off x="548640" y="3017520"/>
            <a:ext cx="11064240" cy="77724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17520"/>
            <a:ext cx="91440" cy="77724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017520"/>
            <a:ext cx="2560320" cy="777240"/>
          </a:xfrm>
          <a:prstGeom prst="rect">
            <a:avLst/>
          </a:prstGeom>
          <a:noFill/>
        </p:spPr>
        <p:txBody>
          <a:bodyPr wrap="square" lIns="0" rIns="0" tIns="0" bIns="0" anchor="ctr">
            <a:spAutoFit/>
          </a:bodyPr>
          <a:lstStyle/>
          <a:p>
            <a:pPr algn="l"/>
            <a:r>
              <a:rPr sz="1500" b="1" i="0">
                <a:solidFill>
                  <a:srgbClr val="F2A63B"/>
                </a:solidFill>
                <a:latin typeface="Calibri"/>
              </a:rPr>
              <a:t>Gráficos SVG</a:t>
            </a:r>
          </a:p>
        </p:txBody>
      </p:sp>
      <p:sp>
        <p:nvSpPr>
          <p:cNvPr id="16" name="TextBox 15"/>
          <p:cNvSpPr txBox="1"/>
          <p:nvPr/>
        </p:nvSpPr>
        <p:spPr>
          <a:xfrm>
            <a:off x="3291840" y="3017520"/>
            <a:ext cx="8229600" cy="777240"/>
          </a:xfrm>
          <a:prstGeom prst="rect">
            <a:avLst/>
          </a:prstGeom>
          <a:noFill/>
        </p:spPr>
        <p:txBody>
          <a:bodyPr wrap="square" lIns="0" rIns="0" tIns="0" bIns="0" anchor="ctr">
            <a:spAutoFit/>
          </a:bodyPr>
          <a:lstStyle/>
          <a:p>
            <a:pPr algn="l"/>
            <a:r>
              <a:rPr sz="1300" b="0" i="0">
                <a:solidFill>
                  <a:srgbClr val="F4F6FB"/>
                </a:solidFill>
                <a:latin typeface="Calibri"/>
              </a:rPr>
              <a:t>Actividad por ventana, composición y teclas más usadas.</a:t>
            </a:r>
          </a:p>
        </p:txBody>
      </p:sp>
      <p:sp>
        <p:nvSpPr>
          <p:cNvPr id="17" name="Rectangle 16"/>
          <p:cNvSpPr/>
          <p:nvPr/>
        </p:nvSpPr>
        <p:spPr>
          <a:xfrm>
            <a:off x="548640" y="3886200"/>
            <a:ext cx="11064240" cy="77724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86200"/>
            <a:ext cx="91440" cy="77724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86200"/>
            <a:ext cx="2560320" cy="777240"/>
          </a:xfrm>
          <a:prstGeom prst="rect">
            <a:avLst/>
          </a:prstGeom>
          <a:noFill/>
        </p:spPr>
        <p:txBody>
          <a:bodyPr wrap="square" lIns="0" rIns="0" tIns="0" bIns="0" anchor="ctr">
            <a:spAutoFit/>
          </a:bodyPr>
          <a:lstStyle/>
          <a:p>
            <a:pPr algn="l"/>
            <a:r>
              <a:rPr sz="1500" b="1" i="0">
                <a:solidFill>
                  <a:srgbClr val="F2A63B"/>
                </a:solidFill>
                <a:latin typeface="Calibri"/>
              </a:rPr>
              <a:t>Línea de tiempo</a:t>
            </a:r>
          </a:p>
        </p:txBody>
      </p:sp>
      <p:sp>
        <p:nvSpPr>
          <p:cNvPr id="20" name="TextBox 19"/>
          <p:cNvSpPr txBox="1"/>
          <p:nvPr/>
        </p:nvSpPr>
        <p:spPr>
          <a:xfrm>
            <a:off x="3291840" y="3886200"/>
            <a:ext cx="8229600" cy="777240"/>
          </a:xfrm>
          <a:prstGeom prst="rect">
            <a:avLst/>
          </a:prstGeom>
          <a:noFill/>
        </p:spPr>
        <p:txBody>
          <a:bodyPr wrap="square" lIns="0" rIns="0" tIns="0" bIns="0" anchor="ctr">
            <a:spAutoFit/>
          </a:bodyPr>
          <a:lstStyle/>
          <a:p>
            <a:pPr algn="l"/>
            <a:r>
              <a:rPr sz="1300" b="0" i="0">
                <a:solidFill>
                  <a:srgbClr val="F4F6FB"/>
                </a:solidFill>
                <a:latin typeface="Calibri"/>
              </a:rPr>
              <a:t>Cada sesión con su inicio, fin y ventanas visitadas.</a:t>
            </a:r>
          </a:p>
        </p:txBody>
      </p:sp>
      <p:sp>
        <p:nvSpPr>
          <p:cNvPr id="21" name="Rectangle 20"/>
          <p:cNvSpPr/>
          <p:nvPr/>
        </p:nvSpPr>
        <p:spPr>
          <a:xfrm>
            <a:off x="548640" y="4754880"/>
            <a:ext cx="11064240" cy="77724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754880"/>
            <a:ext cx="91440" cy="77724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754880"/>
            <a:ext cx="2560320" cy="777240"/>
          </a:xfrm>
          <a:prstGeom prst="rect">
            <a:avLst/>
          </a:prstGeom>
          <a:noFill/>
        </p:spPr>
        <p:txBody>
          <a:bodyPr wrap="square" lIns="0" rIns="0" tIns="0" bIns="0" anchor="ctr">
            <a:spAutoFit/>
          </a:bodyPr>
          <a:lstStyle/>
          <a:p>
            <a:pPr algn="l"/>
            <a:r>
              <a:rPr sz="1500" b="1" i="0">
                <a:solidFill>
                  <a:srgbClr val="F2A63B"/>
                </a:solidFill>
                <a:latin typeface="Calibri"/>
              </a:rPr>
              <a:t>Tabla por ventana</a:t>
            </a:r>
          </a:p>
        </p:txBody>
      </p:sp>
      <p:sp>
        <p:nvSpPr>
          <p:cNvPr id="24" name="TextBox 23"/>
          <p:cNvSpPr txBox="1"/>
          <p:nvPr/>
        </p:nvSpPr>
        <p:spPr>
          <a:xfrm>
            <a:off x="3291840" y="4754880"/>
            <a:ext cx="8229600" cy="777240"/>
          </a:xfrm>
          <a:prstGeom prst="rect">
            <a:avLst/>
          </a:prstGeom>
          <a:noFill/>
        </p:spPr>
        <p:txBody>
          <a:bodyPr wrap="square" lIns="0" rIns="0" tIns="0" bIns="0" anchor="ctr">
            <a:spAutoFit/>
          </a:bodyPr>
          <a:lstStyle/>
          <a:p>
            <a:pPr algn="l"/>
            <a:r>
              <a:rPr sz="1300" b="0" i="0">
                <a:solidFill>
                  <a:srgbClr val="F4F6FB"/>
                </a:solidFill>
                <a:latin typeface="Calibri"/>
              </a:rPr>
              <a:t>Texto reconstruido (aplica retroceso), buscador y export a CSV.</a:t>
            </a:r>
          </a:p>
        </p:txBody>
      </p:sp>
      <p:sp>
        <p:nvSpPr>
          <p:cNvPr id="25" name="TextBox 24"/>
          <p:cNvSpPr txBox="1"/>
          <p:nvPr/>
        </p:nvSpPr>
        <p:spPr>
          <a:xfrm>
            <a:off x="548640" y="5897880"/>
            <a:ext cx="10972800" cy="365760"/>
          </a:xfrm>
          <a:prstGeom prst="rect">
            <a:avLst/>
          </a:prstGeom>
          <a:noFill/>
        </p:spPr>
        <p:txBody>
          <a:bodyPr wrap="square" lIns="0" rIns="0" tIns="0" bIns="0" anchor="t">
            <a:spAutoFit/>
          </a:bodyPr>
          <a:lstStyle/>
          <a:p>
            <a:pPr algn="l"/>
            <a:r>
              <a:rPr sz="1100" b="0" i="1">
                <a:solidFill>
                  <a:srgbClr val="C2CDDE"/>
                </a:solidFill>
                <a:latin typeface="Calibri"/>
              </a:rPr>
              <a:t>El panel solo lee: no captura, no modifica, no envía nada fuera del equipo.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07 · VALIDACIÓN</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Pruebas y resultados</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11 / 14</a:t>
            </a:r>
          </a:p>
        </p:txBody>
      </p:sp>
      <p:sp>
        <p:nvSpPr>
          <p:cNvPr id="8" name="Rectangle 7"/>
          <p:cNvSpPr/>
          <p:nvPr/>
        </p:nvSpPr>
        <p:spPr>
          <a:xfrm>
            <a:off x="548640" y="1783080"/>
            <a:ext cx="2651760" cy="12801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20240"/>
            <a:ext cx="2651760" cy="640080"/>
          </a:xfrm>
          <a:prstGeom prst="rect">
            <a:avLst/>
          </a:prstGeom>
          <a:noFill/>
        </p:spPr>
        <p:txBody>
          <a:bodyPr wrap="square" lIns="0" rIns="0" tIns="0" bIns="0" anchor="t">
            <a:spAutoFit/>
          </a:bodyPr>
          <a:lstStyle/>
          <a:p>
            <a:pPr algn="ctr"/>
            <a:r>
              <a:rPr sz="3600" b="1" i="0">
                <a:solidFill>
                  <a:srgbClr val="F2A63B"/>
                </a:solidFill>
                <a:latin typeface="Calibri"/>
              </a:rPr>
              <a:t>4</a:t>
            </a:r>
          </a:p>
        </p:txBody>
      </p:sp>
      <p:sp>
        <p:nvSpPr>
          <p:cNvPr id="10" name="TextBox 9"/>
          <p:cNvSpPr txBox="1"/>
          <p:nvPr/>
        </p:nvSpPr>
        <p:spPr>
          <a:xfrm>
            <a:off x="548640" y="2560320"/>
            <a:ext cx="2651760" cy="457200"/>
          </a:xfrm>
          <a:prstGeom prst="rect">
            <a:avLst/>
          </a:prstGeom>
          <a:noFill/>
        </p:spPr>
        <p:txBody>
          <a:bodyPr wrap="square" lIns="0" rIns="0" tIns="0" bIns="0" anchor="t">
            <a:spAutoFit/>
          </a:bodyPr>
          <a:lstStyle/>
          <a:p>
            <a:pPr algn="ctr"/>
            <a:r>
              <a:rPr sz="1100" b="0" i="0">
                <a:solidFill>
                  <a:srgbClr val="F4F6FB"/>
                </a:solidFill>
                <a:latin typeface="Calibri"/>
              </a:rPr>
              <a:t>módulos
con pytest</a:t>
            </a:r>
          </a:p>
        </p:txBody>
      </p:sp>
      <p:sp>
        <p:nvSpPr>
          <p:cNvPr id="11" name="Rectangle 10"/>
          <p:cNvSpPr/>
          <p:nvPr/>
        </p:nvSpPr>
        <p:spPr>
          <a:xfrm>
            <a:off x="3383280" y="1783080"/>
            <a:ext cx="2651760" cy="12801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1920240"/>
            <a:ext cx="2651760" cy="640080"/>
          </a:xfrm>
          <a:prstGeom prst="rect">
            <a:avLst/>
          </a:prstGeom>
          <a:noFill/>
        </p:spPr>
        <p:txBody>
          <a:bodyPr wrap="square" lIns="0" rIns="0" tIns="0" bIns="0" anchor="t">
            <a:spAutoFit/>
          </a:bodyPr>
          <a:lstStyle/>
          <a:p>
            <a:pPr algn="ctr"/>
            <a:r>
              <a:rPr sz="3600" b="1" i="0">
                <a:solidFill>
                  <a:srgbClr val="F2A63B"/>
                </a:solidFill>
                <a:latin typeface="Calibri"/>
              </a:rPr>
              <a:t>20+</a:t>
            </a:r>
          </a:p>
        </p:txBody>
      </p:sp>
      <p:sp>
        <p:nvSpPr>
          <p:cNvPr id="13" name="TextBox 12"/>
          <p:cNvSpPr txBox="1"/>
          <p:nvPr/>
        </p:nvSpPr>
        <p:spPr>
          <a:xfrm>
            <a:off x="3383280" y="2560320"/>
            <a:ext cx="2651760" cy="457200"/>
          </a:xfrm>
          <a:prstGeom prst="rect">
            <a:avLst/>
          </a:prstGeom>
          <a:noFill/>
        </p:spPr>
        <p:txBody>
          <a:bodyPr wrap="square" lIns="0" rIns="0" tIns="0" bIns="0" anchor="t">
            <a:spAutoFit/>
          </a:bodyPr>
          <a:lstStyle/>
          <a:p>
            <a:pPr algn="ctr"/>
            <a:r>
              <a:rPr sz="1100" b="0" i="0">
                <a:solidFill>
                  <a:srgbClr val="F4F6FB"/>
                </a:solidFill>
                <a:latin typeface="Calibri"/>
              </a:rPr>
              <a:t>casos de
prueba</a:t>
            </a:r>
          </a:p>
        </p:txBody>
      </p:sp>
      <p:sp>
        <p:nvSpPr>
          <p:cNvPr id="14" name="Rectangle 13"/>
          <p:cNvSpPr/>
          <p:nvPr/>
        </p:nvSpPr>
        <p:spPr>
          <a:xfrm>
            <a:off x="6217920" y="1783080"/>
            <a:ext cx="2651760" cy="12801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1920240"/>
            <a:ext cx="2651760" cy="640080"/>
          </a:xfrm>
          <a:prstGeom prst="rect">
            <a:avLst/>
          </a:prstGeom>
          <a:noFill/>
        </p:spPr>
        <p:txBody>
          <a:bodyPr wrap="square" lIns="0" rIns="0" tIns="0" bIns="0" anchor="t">
            <a:spAutoFit/>
          </a:bodyPr>
          <a:lstStyle/>
          <a:p>
            <a:pPr algn="ctr"/>
            <a:r>
              <a:rPr sz="3600" b="1" i="0">
                <a:solidFill>
                  <a:srgbClr val="F2A63B"/>
                </a:solidFill>
                <a:latin typeface="Calibri"/>
              </a:rPr>
              <a:t>3</a:t>
            </a:r>
          </a:p>
        </p:txBody>
      </p:sp>
      <p:sp>
        <p:nvSpPr>
          <p:cNvPr id="16" name="TextBox 15"/>
          <p:cNvSpPr txBox="1"/>
          <p:nvPr/>
        </p:nvSpPr>
        <p:spPr>
          <a:xfrm>
            <a:off x="6217920" y="2560320"/>
            <a:ext cx="2651760" cy="457200"/>
          </a:xfrm>
          <a:prstGeom prst="rect">
            <a:avLst/>
          </a:prstGeom>
          <a:noFill/>
        </p:spPr>
        <p:txBody>
          <a:bodyPr wrap="square" lIns="0" rIns="0" tIns="0" bIns="0" anchor="t">
            <a:spAutoFit/>
          </a:bodyPr>
          <a:lstStyle/>
          <a:p>
            <a:pPr algn="ctr"/>
            <a:r>
              <a:rPr sz="1100" b="0" i="0">
                <a:solidFill>
                  <a:srgbClr val="F4F6FB"/>
                </a:solidFill>
                <a:latin typeface="Calibri"/>
              </a:rPr>
              <a:t>formatos
verificados</a:t>
            </a:r>
          </a:p>
        </p:txBody>
      </p:sp>
      <p:sp>
        <p:nvSpPr>
          <p:cNvPr id="17" name="Rectangle 16"/>
          <p:cNvSpPr/>
          <p:nvPr/>
        </p:nvSpPr>
        <p:spPr>
          <a:xfrm>
            <a:off x="9052560" y="1783080"/>
            <a:ext cx="2651760" cy="128016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1920240"/>
            <a:ext cx="2651760" cy="640080"/>
          </a:xfrm>
          <a:prstGeom prst="rect">
            <a:avLst/>
          </a:prstGeom>
          <a:noFill/>
        </p:spPr>
        <p:txBody>
          <a:bodyPr wrap="square" lIns="0" rIns="0" tIns="0" bIns="0" anchor="t">
            <a:spAutoFit/>
          </a:bodyPr>
          <a:lstStyle/>
          <a:p>
            <a:pPr algn="ctr"/>
            <a:r>
              <a:rPr sz="3600" b="1" i="0">
                <a:solidFill>
                  <a:srgbClr val="F2A63B"/>
                </a:solidFill>
                <a:latin typeface="Calibri"/>
              </a:rPr>
              <a:t>100%</a:t>
            </a:r>
          </a:p>
        </p:txBody>
      </p:sp>
      <p:sp>
        <p:nvSpPr>
          <p:cNvPr id="19" name="TextBox 18"/>
          <p:cNvSpPr txBox="1"/>
          <p:nvPr/>
        </p:nvSpPr>
        <p:spPr>
          <a:xfrm>
            <a:off x="9052560" y="2560320"/>
            <a:ext cx="2651760" cy="457200"/>
          </a:xfrm>
          <a:prstGeom prst="rect">
            <a:avLst/>
          </a:prstGeom>
          <a:noFill/>
        </p:spPr>
        <p:txBody>
          <a:bodyPr wrap="square" lIns="0" rIns="0" tIns="0" bIns="0" anchor="t">
            <a:spAutoFit/>
          </a:bodyPr>
          <a:lstStyle/>
          <a:p>
            <a:pPr algn="ctr"/>
            <a:r>
              <a:rPr sz="1100" b="0" i="0">
                <a:solidFill>
                  <a:srgbClr val="F4F6FB"/>
                </a:solidFill>
                <a:latin typeface="Calibri"/>
              </a:rPr>
              <a:t>cobertura de
lógica pura</a:t>
            </a:r>
          </a:p>
        </p:txBody>
      </p:sp>
      <p:sp>
        <p:nvSpPr>
          <p:cNvPr id="20" name="TextBox 19"/>
          <p:cNvSpPr txBox="1"/>
          <p:nvPr/>
        </p:nvSpPr>
        <p:spPr>
          <a:xfrm>
            <a:off x="548640" y="3337560"/>
            <a:ext cx="10972800" cy="365760"/>
          </a:xfrm>
          <a:prstGeom prst="rect">
            <a:avLst/>
          </a:prstGeom>
          <a:noFill/>
        </p:spPr>
        <p:txBody>
          <a:bodyPr wrap="square" lIns="0" rIns="0" tIns="0" bIns="0" anchor="t">
            <a:spAutoFit/>
          </a:bodyPr>
          <a:lstStyle/>
          <a:p>
            <a:pPr algn="l"/>
            <a:r>
              <a:rPr sz="1400" b="0" i="1">
                <a:solidFill>
                  <a:srgbClr val="C2CDDE"/>
                </a:solidFill>
                <a:latin typeface="Calibri"/>
              </a:rPr>
              <a:t>Casos cubiertos por la batería de pruebas automatizadas:</a:t>
            </a:r>
          </a:p>
        </p:txBody>
      </p:sp>
      <p:sp>
        <p:nvSpPr>
          <p:cNvPr id="21" name="Rectangle 20"/>
          <p:cNvSpPr/>
          <p:nvPr/>
        </p:nvSpPr>
        <p:spPr>
          <a:xfrm>
            <a:off x="548640" y="3749040"/>
            <a:ext cx="110642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749040"/>
            <a:ext cx="365760" cy="502920"/>
          </a:xfrm>
          <a:prstGeom prst="rect">
            <a:avLst/>
          </a:prstGeom>
          <a:noFill/>
        </p:spPr>
        <p:txBody>
          <a:bodyPr wrap="square" lIns="0" rIns="0" tIns="0" bIns="0" anchor="ctr">
            <a:spAutoFit/>
          </a:bodyPr>
          <a:lstStyle/>
          <a:p>
            <a:pPr algn="l"/>
            <a:r>
              <a:rPr sz="1800" b="1" i="0">
                <a:solidFill>
                  <a:srgbClr val="4CC28A"/>
                </a:solidFill>
                <a:latin typeface="Calibri"/>
              </a:rPr>
              <a:t>✓</a:t>
            </a:r>
          </a:p>
        </p:txBody>
      </p:sp>
      <p:sp>
        <p:nvSpPr>
          <p:cNvPr id="23" name="TextBox 22"/>
          <p:cNvSpPr txBox="1"/>
          <p:nvPr/>
        </p:nvSpPr>
        <p:spPr>
          <a:xfrm>
            <a:off x="1188720" y="3749040"/>
            <a:ext cx="2103120" cy="502920"/>
          </a:xfrm>
          <a:prstGeom prst="rect">
            <a:avLst/>
          </a:prstGeom>
          <a:noFill/>
        </p:spPr>
        <p:txBody>
          <a:bodyPr wrap="square" lIns="0" rIns="0" tIns="0" bIns="0" anchor="ctr">
            <a:spAutoFit/>
          </a:bodyPr>
          <a:lstStyle/>
          <a:p>
            <a:pPr algn="l"/>
            <a:r>
              <a:rPr sz="1200" b="1" i="0">
                <a:solidFill>
                  <a:srgbClr val="F2A63B"/>
                </a:solidFill>
                <a:latin typeface="Consolas"/>
              </a:rPr>
              <a:t>captura.py</a:t>
            </a:r>
          </a:p>
        </p:txBody>
      </p:sp>
      <p:sp>
        <p:nvSpPr>
          <p:cNvPr id="24" name="TextBox 23"/>
          <p:cNvSpPr txBox="1"/>
          <p:nvPr/>
        </p:nvSpPr>
        <p:spPr>
          <a:xfrm>
            <a:off x="3017520" y="3749040"/>
            <a:ext cx="8229600" cy="502920"/>
          </a:xfrm>
          <a:prstGeom prst="rect">
            <a:avLst/>
          </a:prstGeom>
          <a:noFill/>
        </p:spPr>
        <p:txBody>
          <a:bodyPr wrap="square" lIns="0" rIns="0" tIns="0" bIns="0" anchor="ctr">
            <a:spAutoFit/>
          </a:bodyPr>
          <a:lstStyle/>
          <a:p>
            <a:pPr algn="l"/>
            <a:r>
              <a:rPr sz="1200" b="0" i="0">
                <a:solidFill>
                  <a:srgbClr val="F4F6FB"/>
                </a:solidFill>
                <a:latin typeface="Calibri"/>
              </a:rPr>
              <a:t>Caracteres, especiales, combos, AltGr y teclas muertas (acentos).</a:t>
            </a:r>
          </a:p>
        </p:txBody>
      </p:sp>
      <p:sp>
        <p:nvSpPr>
          <p:cNvPr id="25" name="Rectangle 24"/>
          <p:cNvSpPr/>
          <p:nvPr/>
        </p:nvSpPr>
        <p:spPr>
          <a:xfrm>
            <a:off x="548640" y="4343400"/>
            <a:ext cx="110642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343400"/>
            <a:ext cx="365760" cy="502920"/>
          </a:xfrm>
          <a:prstGeom prst="rect">
            <a:avLst/>
          </a:prstGeom>
          <a:noFill/>
        </p:spPr>
        <p:txBody>
          <a:bodyPr wrap="square" lIns="0" rIns="0" tIns="0" bIns="0" anchor="ctr">
            <a:spAutoFit/>
          </a:bodyPr>
          <a:lstStyle/>
          <a:p>
            <a:pPr algn="l"/>
            <a:r>
              <a:rPr sz="1800" b="1" i="0">
                <a:solidFill>
                  <a:srgbClr val="4CC28A"/>
                </a:solidFill>
                <a:latin typeface="Calibri"/>
              </a:rPr>
              <a:t>✓</a:t>
            </a:r>
          </a:p>
        </p:txBody>
      </p:sp>
      <p:sp>
        <p:nvSpPr>
          <p:cNvPr id="27" name="TextBox 26"/>
          <p:cNvSpPr txBox="1"/>
          <p:nvPr/>
        </p:nvSpPr>
        <p:spPr>
          <a:xfrm>
            <a:off x="1188720" y="4343400"/>
            <a:ext cx="2103120" cy="502920"/>
          </a:xfrm>
          <a:prstGeom prst="rect">
            <a:avLst/>
          </a:prstGeom>
          <a:noFill/>
        </p:spPr>
        <p:txBody>
          <a:bodyPr wrap="square" lIns="0" rIns="0" tIns="0" bIns="0" anchor="ctr">
            <a:spAutoFit/>
          </a:bodyPr>
          <a:lstStyle/>
          <a:p>
            <a:pPr algn="l"/>
            <a:r>
              <a:rPr sz="1200" b="1" i="0">
                <a:solidFill>
                  <a:srgbClr val="F2A63B"/>
                </a:solidFill>
                <a:latin typeface="Consolas"/>
              </a:rPr>
              <a:t>registro.py</a:t>
            </a:r>
          </a:p>
        </p:txBody>
      </p:sp>
      <p:sp>
        <p:nvSpPr>
          <p:cNvPr id="28" name="TextBox 27"/>
          <p:cNvSpPr txBox="1"/>
          <p:nvPr/>
        </p:nvSpPr>
        <p:spPr>
          <a:xfrm>
            <a:off x="3017520" y="4343400"/>
            <a:ext cx="8229600" cy="502920"/>
          </a:xfrm>
          <a:prstGeom prst="rect">
            <a:avLst/>
          </a:prstGeom>
          <a:noFill/>
        </p:spPr>
        <p:txBody>
          <a:bodyPr wrap="square" lIns="0" rIns="0" tIns="0" bIns="0" anchor="ctr">
            <a:spAutoFit/>
          </a:bodyPr>
          <a:lstStyle/>
          <a:p>
            <a:pPr algn="l"/>
            <a:r>
              <a:rPr sz="1200" b="0" i="0">
                <a:solidFill>
                  <a:srgbClr val="F4F6FB"/>
                </a:solidFill>
                <a:latin typeface="Calibri"/>
              </a:rPr>
              <a:t>Formato JSONL, flush por evento, cierre ordenado.</a:t>
            </a:r>
          </a:p>
        </p:txBody>
      </p:sp>
      <p:sp>
        <p:nvSpPr>
          <p:cNvPr id="29" name="Rectangle 28"/>
          <p:cNvSpPr/>
          <p:nvPr/>
        </p:nvSpPr>
        <p:spPr>
          <a:xfrm>
            <a:off x="548640" y="4937760"/>
            <a:ext cx="110642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937760"/>
            <a:ext cx="365760" cy="502920"/>
          </a:xfrm>
          <a:prstGeom prst="rect">
            <a:avLst/>
          </a:prstGeom>
          <a:noFill/>
        </p:spPr>
        <p:txBody>
          <a:bodyPr wrap="square" lIns="0" rIns="0" tIns="0" bIns="0" anchor="ctr">
            <a:spAutoFit/>
          </a:bodyPr>
          <a:lstStyle/>
          <a:p>
            <a:pPr algn="l"/>
            <a:r>
              <a:rPr sz="1800" b="1" i="0">
                <a:solidFill>
                  <a:srgbClr val="4CC28A"/>
                </a:solidFill>
                <a:latin typeface="Calibri"/>
              </a:rPr>
              <a:t>✓</a:t>
            </a:r>
          </a:p>
        </p:txBody>
      </p:sp>
      <p:sp>
        <p:nvSpPr>
          <p:cNvPr id="31" name="TextBox 30"/>
          <p:cNvSpPr txBox="1"/>
          <p:nvPr/>
        </p:nvSpPr>
        <p:spPr>
          <a:xfrm>
            <a:off x="1188720" y="4937760"/>
            <a:ext cx="2103120" cy="502920"/>
          </a:xfrm>
          <a:prstGeom prst="rect">
            <a:avLst/>
          </a:prstGeom>
          <a:noFill/>
        </p:spPr>
        <p:txBody>
          <a:bodyPr wrap="square" lIns="0" rIns="0" tIns="0" bIns="0" anchor="ctr">
            <a:spAutoFit/>
          </a:bodyPr>
          <a:lstStyle/>
          <a:p>
            <a:pPr algn="l"/>
            <a:r>
              <a:rPr sz="1200" b="1" i="0">
                <a:solidFill>
                  <a:srgbClr val="F2A63B"/>
                </a:solidFill>
                <a:latin typeface="Consolas"/>
              </a:rPr>
              <a:t>config.py</a:t>
            </a:r>
          </a:p>
        </p:txBody>
      </p:sp>
      <p:sp>
        <p:nvSpPr>
          <p:cNvPr id="32" name="TextBox 31"/>
          <p:cNvSpPr txBox="1"/>
          <p:nvPr/>
        </p:nvSpPr>
        <p:spPr>
          <a:xfrm>
            <a:off x="3017520" y="4937760"/>
            <a:ext cx="8229600" cy="502920"/>
          </a:xfrm>
          <a:prstGeom prst="rect">
            <a:avLst/>
          </a:prstGeom>
          <a:noFill/>
        </p:spPr>
        <p:txBody>
          <a:bodyPr wrap="square" lIns="0" rIns="0" tIns="0" bIns="0" anchor="ctr">
            <a:spAutoFit/>
          </a:bodyPr>
          <a:lstStyle/>
          <a:p>
            <a:pPr algn="l"/>
            <a:r>
              <a:rPr sz="1200" b="0" i="0">
                <a:solidFill>
                  <a:srgbClr val="F4F6FB"/>
                </a:solidFill>
                <a:latin typeface="Calibri"/>
              </a:rPr>
              <a:t>Valores por defecto, merge con config.json y CLI.</a:t>
            </a:r>
          </a:p>
        </p:txBody>
      </p:sp>
      <p:sp>
        <p:nvSpPr>
          <p:cNvPr id="33" name="Rectangle 32"/>
          <p:cNvSpPr/>
          <p:nvPr/>
        </p:nvSpPr>
        <p:spPr>
          <a:xfrm>
            <a:off x="548640" y="5532120"/>
            <a:ext cx="11064240" cy="50292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5532120"/>
            <a:ext cx="365760" cy="502920"/>
          </a:xfrm>
          <a:prstGeom prst="rect">
            <a:avLst/>
          </a:prstGeom>
          <a:noFill/>
        </p:spPr>
        <p:txBody>
          <a:bodyPr wrap="square" lIns="0" rIns="0" tIns="0" bIns="0" anchor="ctr">
            <a:spAutoFit/>
          </a:bodyPr>
          <a:lstStyle/>
          <a:p>
            <a:pPr algn="l"/>
            <a:r>
              <a:rPr sz="1800" b="1" i="0">
                <a:solidFill>
                  <a:srgbClr val="4CC28A"/>
                </a:solidFill>
                <a:latin typeface="Calibri"/>
              </a:rPr>
              <a:t>✓</a:t>
            </a:r>
          </a:p>
        </p:txBody>
      </p:sp>
      <p:sp>
        <p:nvSpPr>
          <p:cNvPr id="35" name="TextBox 34"/>
          <p:cNvSpPr txBox="1"/>
          <p:nvPr/>
        </p:nvSpPr>
        <p:spPr>
          <a:xfrm>
            <a:off x="1188720" y="5532120"/>
            <a:ext cx="2103120" cy="502920"/>
          </a:xfrm>
          <a:prstGeom prst="rect">
            <a:avLst/>
          </a:prstGeom>
          <a:noFill/>
        </p:spPr>
        <p:txBody>
          <a:bodyPr wrap="square" lIns="0" rIns="0" tIns="0" bIns="0" anchor="ctr">
            <a:spAutoFit/>
          </a:bodyPr>
          <a:lstStyle/>
          <a:p>
            <a:pPr algn="l"/>
            <a:r>
              <a:rPr sz="1200" b="1" i="0">
                <a:solidFill>
                  <a:srgbClr val="F2A63B"/>
                </a:solidFill>
                <a:latin typeface="Consolas"/>
              </a:rPr>
              <a:t>dashboard.py</a:t>
            </a:r>
          </a:p>
        </p:txBody>
      </p:sp>
      <p:sp>
        <p:nvSpPr>
          <p:cNvPr id="36" name="TextBox 35"/>
          <p:cNvSpPr txBox="1"/>
          <p:nvPr/>
        </p:nvSpPr>
        <p:spPr>
          <a:xfrm>
            <a:off x="3017520" y="5532120"/>
            <a:ext cx="8229600" cy="502920"/>
          </a:xfrm>
          <a:prstGeom prst="rect">
            <a:avLst/>
          </a:prstGeom>
          <a:noFill/>
        </p:spPr>
        <p:txBody>
          <a:bodyPr wrap="square" lIns="0" rIns="0" tIns="0" bIns="0" anchor="ctr">
            <a:spAutoFit/>
          </a:bodyPr>
          <a:lstStyle/>
          <a:p>
            <a:pPr algn="l"/>
            <a:r>
              <a:rPr sz="1200" b="0" i="0">
                <a:solidFill>
                  <a:srgbClr val="F4F6FB"/>
                </a:solidFill>
                <a:latin typeface="Calibri"/>
              </a:rPr>
              <a:t>Lectura y agregación de registros para el panel.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08 · CÓMO PROTEGERSE</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Recomendaciones de defensa</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12 / 14</a:t>
            </a:r>
          </a:p>
        </p:txBody>
      </p:sp>
      <p:sp>
        <p:nvSpPr>
          <p:cNvPr id="8" name="Rectangle 7"/>
          <p:cNvSpPr/>
          <p:nvPr/>
        </p:nvSpPr>
        <p:spPr>
          <a:xfrm>
            <a:off x="548640" y="178308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2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10" name="TextBox 9"/>
          <p:cNvSpPr txBox="1"/>
          <p:nvPr/>
        </p:nvSpPr>
        <p:spPr>
          <a:xfrm>
            <a:off x="1234440" y="1856232"/>
            <a:ext cx="4800600" cy="365760"/>
          </a:xfrm>
          <a:prstGeom prst="rect">
            <a:avLst/>
          </a:prstGeom>
          <a:noFill/>
        </p:spPr>
        <p:txBody>
          <a:bodyPr wrap="square" lIns="0" rIns="0" tIns="0" bIns="0" anchor="t">
            <a:spAutoFit/>
          </a:bodyPr>
          <a:lstStyle/>
          <a:p>
            <a:pPr algn="l"/>
            <a:r>
              <a:rPr sz="1400" b="1" i="0">
                <a:solidFill>
                  <a:srgbClr val="F4F6FB"/>
                </a:solidFill>
                <a:latin typeface="Calibri"/>
              </a:rPr>
              <a:t>MFA</a:t>
            </a:r>
          </a:p>
        </p:txBody>
      </p:sp>
      <p:sp>
        <p:nvSpPr>
          <p:cNvPr id="11" name="TextBox 10"/>
          <p:cNvSpPr txBox="1"/>
          <p:nvPr/>
        </p:nvSpPr>
        <p:spPr>
          <a:xfrm>
            <a:off x="1234440" y="2240280"/>
            <a:ext cx="4800600" cy="457200"/>
          </a:xfrm>
          <a:prstGeom prst="rect">
            <a:avLst/>
          </a:prstGeom>
          <a:noFill/>
        </p:spPr>
        <p:txBody>
          <a:bodyPr wrap="square" lIns="0" rIns="0" tIns="0" bIns="0" anchor="t">
            <a:spAutoFit/>
          </a:bodyPr>
          <a:lstStyle/>
          <a:p>
            <a:pPr algn="l"/>
            <a:r>
              <a:rPr sz="1100" b="0" i="0">
                <a:solidFill>
                  <a:srgbClr val="C2CDDE"/>
                </a:solidFill>
                <a:latin typeface="Calibri"/>
              </a:rPr>
              <a:t>Autenticación multifactor en todas las cuentas críticas.</a:t>
            </a:r>
          </a:p>
        </p:txBody>
      </p:sp>
      <p:sp>
        <p:nvSpPr>
          <p:cNvPr id="12" name="Rectangle 11"/>
          <p:cNvSpPr/>
          <p:nvPr/>
        </p:nvSpPr>
        <p:spPr>
          <a:xfrm>
            <a:off x="6263640" y="178308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87452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14" name="TextBox 13"/>
          <p:cNvSpPr txBox="1"/>
          <p:nvPr/>
        </p:nvSpPr>
        <p:spPr>
          <a:xfrm>
            <a:off x="6949440" y="1856232"/>
            <a:ext cx="4800600" cy="365760"/>
          </a:xfrm>
          <a:prstGeom prst="rect">
            <a:avLst/>
          </a:prstGeom>
          <a:noFill/>
        </p:spPr>
        <p:txBody>
          <a:bodyPr wrap="square" lIns="0" rIns="0" tIns="0" bIns="0" anchor="t">
            <a:spAutoFit/>
          </a:bodyPr>
          <a:lstStyle/>
          <a:p>
            <a:pPr algn="l"/>
            <a:r>
              <a:rPr sz="1400" b="1" i="0">
                <a:solidFill>
                  <a:srgbClr val="F4F6FB"/>
                </a:solidFill>
                <a:latin typeface="Calibri"/>
              </a:rPr>
              <a:t>EDR</a:t>
            </a:r>
          </a:p>
        </p:txBody>
      </p:sp>
      <p:sp>
        <p:nvSpPr>
          <p:cNvPr id="15" name="TextBox 14"/>
          <p:cNvSpPr txBox="1"/>
          <p:nvPr/>
        </p:nvSpPr>
        <p:spPr>
          <a:xfrm>
            <a:off x="6949440" y="2240280"/>
            <a:ext cx="4800600" cy="457200"/>
          </a:xfrm>
          <a:prstGeom prst="rect">
            <a:avLst/>
          </a:prstGeom>
          <a:noFill/>
        </p:spPr>
        <p:txBody>
          <a:bodyPr wrap="square" lIns="0" rIns="0" tIns="0" bIns="0" anchor="t">
            <a:spAutoFit/>
          </a:bodyPr>
          <a:lstStyle/>
          <a:p>
            <a:pPr algn="l"/>
            <a:r>
              <a:rPr sz="1100" b="0" i="0">
                <a:solidFill>
                  <a:srgbClr val="C2CDDE"/>
                </a:solidFill>
                <a:latin typeface="Calibri"/>
              </a:rPr>
              <a:t>Antivirus/EDR con análisis de comportamiento, no solo firmas.</a:t>
            </a:r>
          </a:p>
        </p:txBody>
      </p:sp>
      <p:sp>
        <p:nvSpPr>
          <p:cNvPr id="16" name="Rectangle 15"/>
          <p:cNvSpPr/>
          <p:nvPr/>
        </p:nvSpPr>
        <p:spPr>
          <a:xfrm>
            <a:off x="548640" y="288036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7180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18" name="TextBox 17"/>
          <p:cNvSpPr txBox="1"/>
          <p:nvPr/>
        </p:nvSpPr>
        <p:spPr>
          <a:xfrm>
            <a:off x="1234440" y="2953512"/>
            <a:ext cx="4800600" cy="365760"/>
          </a:xfrm>
          <a:prstGeom prst="rect">
            <a:avLst/>
          </a:prstGeom>
          <a:noFill/>
        </p:spPr>
        <p:txBody>
          <a:bodyPr wrap="square" lIns="0" rIns="0" tIns="0" bIns="0" anchor="t">
            <a:spAutoFit/>
          </a:bodyPr>
          <a:lstStyle/>
          <a:p>
            <a:pPr algn="l"/>
            <a:r>
              <a:rPr sz="1400" b="1" i="0">
                <a:solidFill>
                  <a:srgbClr val="F4F6FB"/>
                </a:solidFill>
                <a:latin typeface="Calibri"/>
              </a:rPr>
              <a:t>Mínimo privilegio</a:t>
            </a:r>
          </a:p>
        </p:txBody>
      </p:sp>
      <p:sp>
        <p:nvSpPr>
          <p:cNvPr id="19" name="TextBox 18"/>
          <p:cNvSpPr txBox="1"/>
          <p:nvPr/>
        </p:nvSpPr>
        <p:spPr>
          <a:xfrm>
            <a:off x="1234440" y="3337560"/>
            <a:ext cx="4800600" cy="457200"/>
          </a:xfrm>
          <a:prstGeom prst="rect">
            <a:avLst/>
          </a:prstGeom>
          <a:noFill/>
        </p:spPr>
        <p:txBody>
          <a:bodyPr wrap="square" lIns="0" rIns="0" tIns="0" bIns="0" anchor="t">
            <a:spAutoFit/>
          </a:bodyPr>
          <a:lstStyle/>
          <a:p>
            <a:pPr algn="l"/>
            <a:r>
              <a:rPr sz="1100" b="0" i="0">
                <a:solidFill>
                  <a:srgbClr val="C2CDDE"/>
                </a:solidFill>
                <a:latin typeface="Calibri"/>
              </a:rPr>
              <a:t>No trabajar como administrador para tareas diarias.</a:t>
            </a:r>
          </a:p>
        </p:txBody>
      </p:sp>
      <p:sp>
        <p:nvSpPr>
          <p:cNvPr id="20" name="Rectangle 19"/>
          <p:cNvSpPr/>
          <p:nvPr/>
        </p:nvSpPr>
        <p:spPr>
          <a:xfrm>
            <a:off x="6263640" y="288036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297180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22" name="TextBox 21"/>
          <p:cNvSpPr txBox="1"/>
          <p:nvPr/>
        </p:nvSpPr>
        <p:spPr>
          <a:xfrm>
            <a:off x="6949440" y="2953512"/>
            <a:ext cx="4800600" cy="365760"/>
          </a:xfrm>
          <a:prstGeom prst="rect">
            <a:avLst/>
          </a:prstGeom>
          <a:noFill/>
        </p:spPr>
        <p:txBody>
          <a:bodyPr wrap="square" lIns="0" rIns="0" tIns="0" bIns="0" anchor="t">
            <a:spAutoFit/>
          </a:bodyPr>
          <a:lstStyle/>
          <a:p>
            <a:pPr algn="l"/>
            <a:r>
              <a:rPr sz="1400" b="1" i="0">
                <a:solidFill>
                  <a:srgbClr val="F4F6FB"/>
                </a:solidFill>
                <a:latin typeface="Calibri"/>
              </a:rPr>
              <a:t>Gestores de contraseñas</a:t>
            </a:r>
          </a:p>
        </p:txBody>
      </p:sp>
      <p:sp>
        <p:nvSpPr>
          <p:cNvPr id="23" name="TextBox 22"/>
          <p:cNvSpPr txBox="1"/>
          <p:nvPr/>
        </p:nvSpPr>
        <p:spPr>
          <a:xfrm>
            <a:off x="6949440" y="3337560"/>
            <a:ext cx="4800600" cy="457200"/>
          </a:xfrm>
          <a:prstGeom prst="rect">
            <a:avLst/>
          </a:prstGeom>
          <a:noFill/>
        </p:spPr>
        <p:txBody>
          <a:bodyPr wrap="square" lIns="0" rIns="0" tIns="0" bIns="0" anchor="t">
            <a:spAutoFit/>
          </a:bodyPr>
          <a:lstStyle/>
          <a:p>
            <a:pPr algn="l"/>
            <a:r>
              <a:rPr sz="1100" b="0" i="0">
                <a:solidFill>
                  <a:srgbClr val="C2CDDE"/>
                </a:solidFill>
                <a:latin typeface="Calibri"/>
              </a:rPr>
              <a:t>Bitwarden/1Password/KeePass; evitan teclear la contraseña real.</a:t>
            </a:r>
          </a:p>
        </p:txBody>
      </p:sp>
      <p:sp>
        <p:nvSpPr>
          <p:cNvPr id="24" name="Rectangle 23"/>
          <p:cNvSpPr/>
          <p:nvPr/>
        </p:nvSpPr>
        <p:spPr>
          <a:xfrm>
            <a:off x="548640" y="397764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406908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26" name="TextBox 25"/>
          <p:cNvSpPr txBox="1"/>
          <p:nvPr/>
        </p:nvSpPr>
        <p:spPr>
          <a:xfrm>
            <a:off x="1234440" y="4050792"/>
            <a:ext cx="4800600" cy="365760"/>
          </a:xfrm>
          <a:prstGeom prst="rect">
            <a:avLst/>
          </a:prstGeom>
          <a:noFill/>
        </p:spPr>
        <p:txBody>
          <a:bodyPr wrap="square" lIns="0" rIns="0" tIns="0" bIns="0" anchor="t">
            <a:spAutoFit/>
          </a:bodyPr>
          <a:lstStyle/>
          <a:p>
            <a:pPr algn="l"/>
            <a:r>
              <a:rPr sz="1400" b="1" i="0">
                <a:solidFill>
                  <a:srgbClr val="F4F6FB"/>
                </a:solidFill>
                <a:latin typeface="Calibri"/>
              </a:rPr>
              <a:t>Vigilancia de red</a:t>
            </a:r>
          </a:p>
        </p:txBody>
      </p:sp>
      <p:sp>
        <p:nvSpPr>
          <p:cNvPr id="27" name="TextBox 26"/>
          <p:cNvSpPr txBox="1"/>
          <p:nvPr/>
        </p:nvSpPr>
        <p:spPr>
          <a:xfrm>
            <a:off x="1234440" y="4434840"/>
            <a:ext cx="4800600" cy="457200"/>
          </a:xfrm>
          <a:prstGeom prst="rect">
            <a:avLst/>
          </a:prstGeom>
          <a:noFill/>
        </p:spPr>
        <p:txBody>
          <a:bodyPr wrap="square" lIns="0" rIns="0" tIns="0" bIns="0" anchor="t">
            <a:spAutoFit/>
          </a:bodyPr>
          <a:lstStyle/>
          <a:p>
            <a:pPr algn="l"/>
            <a:r>
              <a:rPr sz="1100" b="0" i="0">
                <a:solidFill>
                  <a:srgbClr val="C2CDDE"/>
                </a:solidFill>
                <a:latin typeface="Calibri"/>
              </a:rPr>
              <a:t>Monitorear conexiones salientes persistentes a dominios raros.</a:t>
            </a:r>
          </a:p>
        </p:txBody>
      </p:sp>
      <p:sp>
        <p:nvSpPr>
          <p:cNvPr id="28" name="Rectangle 27"/>
          <p:cNvSpPr/>
          <p:nvPr/>
        </p:nvSpPr>
        <p:spPr>
          <a:xfrm>
            <a:off x="6263640" y="397764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406908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30" name="TextBox 29"/>
          <p:cNvSpPr txBox="1"/>
          <p:nvPr/>
        </p:nvSpPr>
        <p:spPr>
          <a:xfrm>
            <a:off x="6949440" y="4050792"/>
            <a:ext cx="4800600" cy="365760"/>
          </a:xfrm>
          <a:prstGeom prst="rect">
            <a:avLst/>
          </a:prstGeom>
          <a:noFill/>
        </p:spPr>
        <p:txBody>
          <a:bodyPr wrap="square" lIns="0" rIns="0" tIns="0" bIns="0" anchor="t">
            <a:spAutoFit/>
          </a:bodyPr>
          <a:lstStyle/>
          <a:p>
            <a:pPr algn="l"/>
            <a:r>
              <a:rPr sz="1400" b="1" i="0">
                <a:solidFill>
                  <a:srgbClr val="F4F6FB"/>
                </a:solidFill>
                <a:latin typeface="Calibri"/>
              </a:rPr>
              <a:t>Actualizaciones</a:t>
            </a:r>
          </a:p>
        </p:txBody>
      </p:sp>
      <p:sp>
        <p:nvSpPr>
          <p:cNvPr id="31" name="TextBox 30"/>
          <p:cNvSpPr txBox="1"/>
          <p:nvPr/>
        </p:nvSpPr>
        <p:spPr>
          <a:xfrm>
            <a:off x="6949440" y="4434840"/>
            <a:ext cx="4800600" cy="457200"/>
          </a:xfrm>
          <a:prstGeom prst="rect">
            <a:avLst/>
          </a:prstGeom>
          <a:noFill/>
        </p:spPr>
        <p:txBody>
          <a:bodyPr wrap="square" lIns="0" rIns="0" tIns="0" bIns="0" anchor="t">
            <a:spAutoFit/>
          </a:bodyPr>
          <a:lstStyle/>
          <a:p>
            <a:pPr algn="l"/>
            <a:r>
              <a:rPr sz="1100" b="0" i="0">
                <a:solidFill>
                  <a:srgbClr val="C2CDDE"/>
                </a:solidFill>
                <a:latin typeface="Calibri"/>
              </a:rPr>
              <a:t>SO y aplicaciones al día: cierran las vulnerabilidades conocidas.</a:t>
            </a:r>
          </a:p>
        </p:txBody>
      </p:sp>
      <p:sp>
        <p:nvSpPr>
          <p:cNvPr id="32" name="Rectangle 31"/>
          <p:cNvSpPr/>
          <p:nvPr/>
        </p:nvSpPr>
        <p:spPr>
          <a:xfrm>
            <a:off x="548640" y="507492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516636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34" name="TextBox 33"/>
          <p:cNvSpPr txBox="1"/>
          <p:nvPr/>
        </p:nvSpPr>
        <p:spPr>
          <a:xfrm>
            <a:off x="1234440" y="5148072"/>
            <a:ext cx="4800600" cy="365760"/>
          </a:xfrm>
          <a:prstGeom prst="rect">
            <a:avLst/>
          </a:prstGeom>
          <a:noFill/>
        </p:spPr>
        <p:txBody>
          <a:bodyPr wrap="square" lIns="0" rIns="0" tIns="0" bIns="0" anchor="t">
            <a:spAutoFit/>
          </a:bodyPr>
          <a:lstStyle/>
          <a:p>
            <a:pPr algn="l"/>
            <a:r>
              <a:rPr sz="1400" b="1" i="0">
                <a:solidFill>
                  <a:srgbClr val="F4F6FB"/>
                </a:solidFill>
                <a:latin typeface="Calibri"/>
              </a:rPr>
              <a:t>No ejecutar desconocido</a:t>
            </a:r>
          </a:p>
        </p:txBody>
      </p:sp>
      <p:sp>
        <p:nvSpPr>
          <p:cNvPr id="35" name="TextBox 34"/>
          <p:cNvSpPr txBox="1"/>
          <p:nvPr/>
        </p:nvSpPr>
        <p:spPr>
          <a:xfrm>
            <a:off x="1234440" y="5532120"/>
            <a:ext cx="4800600" cy="457200"/>
          </a:xfrm>
          <a:prstGeom prst="rect">
            <a:avLst/>
          </a:prstGeom>
          <a:noFill/>
        </p:spPr>
        <p:txBody>
          <a:bodyPr wrap="square" lIns="0" rIns="0" tIns="0" bIns="0" anchor="t">
            <a:spAutoFit/>
          </a:bodyPr>
          <a:lstStyle/>
          <a:p>
            <a:pPr algn="l"/>
            <a:r>
              <a:rPr sz="1100" b="0" i="0">
                <a:solidFill>
                  <a:srgbClr val="C2CDDE"/>
                </a:solidFill>
                <a:latin typeface="Calibri"/>
              </a:rPr>
              <a:t>Nada de adjuntos ni «cracks»; validar siempre el origen.</a:t>
            </a:r>
          </a:p>
        </p:txBody>
      </p:sp>
      <p:sp>
        <p:nvSpPr>
          <p:cNvPr id="36" name="Rectangle 35"/>
          <p:cNvSpPr/>
          <p:nvPr/>
        </p:nvSpPr>
        <p:spPr>
          <a:xfrm>
            <a:off x="6263640" y="5074920"/>
            <a:ext cx="5577840" cy="960120"/>
          </a:xfrm>
          <a:prstGeom prst="rect">
            <a:avLst/>
          </a:prstGeom>
          <a:solidFill>
            <a:srgbClr val="142A4A"/>
          </a:solidFill>
          <a:ln w="9525">
            <a:solidFill>
              <a:srgbClr val="4CC2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5166360"/>
            <a:ext cx="365760" cy="457200"/>
          </a:xfrm>
          <a:prstGeom prst="rect">
            <a:avLst/>
          </a:prstGeom>
          <a:noFill/>
        </p:spPr>
        <p:txBody>
          <a:bodyPr wrap="square" lIns="0" rIns="0" tIns="0" bIns="0" anchor="t">
            <a:spAutoFit/>
          </a:bodyPr>
          <a:lstStyle/>
          <a:p>
            <a:pPr algn="l"/>
            <a:r>
              <a:rPr sz="2200" b="1" i="0">
                <a:solidFill>
                  <a:srgbClr val="4CC28A"/>
                </a:solidFill>
                <a:latin typeface="Calibri"/>
              </a:rPr>
              <a:t>✓</a:t>
            </a:r>
          </a:p>
        </p:txBody>
      </p:sp>
      <p:sp>
        <p:nvSpPr>
          <p:cNvPr id="38" name="TextBox 37"/>
          <p:cNvSpPr txBox="1"/>
          <p:nvPr/>
        </p:nvSpPr>
        <p:spPr>
          <a:xfrm>
            <a:off x="6949440" y="5148072"/>
            <a:ext cx="4800600" cy="365760"/>
          </a:xfrm>
          <a:prstGeom prst="rect">
            <a:avLst/>
          </a:prstGeom>
          <a:noFill/>
        </p:spPr>
        <p:txBody>
          <a:bodyPr wrap="square" lIns="0" rIns="0" tIns="0" bIns="0" anchor="t">
            <a:spAutoFit/>
          </a:bodyPr>
          <a:lstStyle/>
          <a:p>
            <a:pPr algn="l"/>
            <a:r>
              <a:rPr sz="1400" b="1" i="0">
                <a:solidFill>
                  <a:srgbClr val="F4F6FB"/>
                </a:solidFill>
                <a:latin typeface="Calibri"/>
              </a:rPr>
              <a:t>Concientización</a:t>
            </a:r>
          </a:p>
        </p:txBody>
      </p:sp>
      <p:sp>
        <p:nvSpPr>
          <p:cNvPr id="39" name="TextBox 38"/>
          <p:cNvSpPr txBox="1"/>
          <p:nvPr/>
        </p:nvSpPr>
        <p:spPr>
          <a:xfrm>
            <a:off x="6949440" y="5532120"/>
            <a:ext cx="4800600" cy="457200"/>
          </a:xfrm>
          <a:prstGeom prst="rect">
            <a:avLst/>
          </a:prstGeom>
          <a:noFill/>
        </p:spPr>
        <p:txBody>
          <a:bodyPr wrap="square" lIns="0" rIns="0" tIns="0" bIns="0" anchor="t">
            <a:spAutoFit/>
          </a:bodyPr>
          <a:lstStyle/>
          <a:p>
            <a:pPr algn="l"/>
            <a:r>
              <a:rPr sz="1100" b="0" i="0">
                <a:solidFill>
                  <a:srgbClr val="C2CDDE"/>
                </a:solidFill>
                <a:latin typeface="Calibri"/>
              </a:rPr>
              <a:t>El usuario es la primera línea: capacitar frente al phishing.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9144000" cy="274320"/>
          </a:xfrm>
          <a:prstGeom prst="rect">
            <a:avLst/>
          </a:prstGeom>
          <a:noFill/>
        </p:spPr>
        <p:txBody>
          <a:bodyPr wrap="square" lIns="0" rIns="0" tIns="0" bIns="0" anchor="t">
            <a:spAutoFit/>
          </a:bodyPr>
          <a:lstStyle/>
          <a:p>
            <a:pPr algn="l"/>
            <a:r>
              <a:rPr sz="1100" b="1" i="0">
                <a:solidFill>
                  <a:srgbClr val="F2A63B"/>
                </a:solidFill>
                <a:latin typeface="Calibri"/>
              </a:rPr>
              <a:t>CIERRE</a:t>
            </a:r>
          </a:p>
        </p:txBody>
      </p:sp>
      <p:sp>
        <p:nvSpPr>
          <p:cNvPr id="4" name="TextBox 3"/>
          <p:cNvSpPr txBox="1"/>
          <p:nvPr/>
        </p:nvSpPr>
        <p:spPr>
          <a:xfrm>
            <a:off x="548640" y="868680"/>
            <a:ext cx="11094415" cy="640080"/>
          </a:xfrm>
          <a:prstGeom prst="rect">
            <a:avLst/>
          </a:prstGeom>
          <a:noFill/>
        </p:spPr>
        <p:txBody>
          <a:bodyPr wrap="square" lIns="0" rIns="0" tIns="0" bIns="0" anchor="t">
            <a:spAutoFit/>
          </a:bodyPr>
          <a:lstStyle/>
          <a:p>
            <a:pPr algn="l"/>
            <a:r>
              <a:rPr sz="3000" b="1" i="0">
                <a:solidFill>
                  <a:srgbClr val="F4F6FB"/>
                </a:solidFill>
                <a:latin typeface="Calibri"/>
              </a:rPr>
              <a:t>Conclusiones</a:t>
            </a:r>
          </a:p>
        </p:txBody>
      </p:sp>
      <p:sp>
        <p:nvSpPr>
          <p:cNvPr id="5" name="Rectangle 4"/>
          <p:cNvSpPr/>
          <p:nvPr/>
        </p:nvSpPr>
        <p:spPr>
          <a:xfrm>
            <a:off x="548640" y="1572768"/>
            <a:ext cx="914400" cy="36576"/>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46520"/>
            <a:ext cx="7315200" cy="274320"/>
          </a:xfrm>
          <a:prstGeom prst="rect">
            <a:avLst/>
          </a:prstGeom>
          <a:noFill/>
        </p:spPr>
        <p:txBody>
          <a:bodyPr wrap="square" lIns="0" rIns="0" tIns="0" bIns="0" anchor="t">
            <a:spAutoFit/>
          </a:bodyPr>
          <a:lstStyle/>
          <a:p>
            <a:pPr algn="l"/>
            <a:r>
              <a:rPr sz="1000" b="0" i="0">
                <a:solidFill>
                  <a:srgbClr val="6B7A90"/>
                </a:solidFill>
                <a:latin typeface="Calibri"/>
              </a:rPr>
              <a:t>Curso de Hacking Ético  ·  Trabajo Parcial  ·  Keylogger Educativo</a:t>
            </a:r>
          </a:p>
        </p:txBody>
      </p:sp>
      <p:sp>
        <p:nvSpPr>
          <p:cNvPr id="7" name="TextBox 6"/>
          <p:cNvSpPr txBox="1"/>
          <p:nvPr/>
        </p:nvSpPr>
        <p:spPr>
          <a:xfrm>
            <a:off x="10271455" y="6446520"/>
            <a:ext cx="1371600" cy="274320"/>
          </a:xfrm>
          <a:prstGeom prst="rect">
            <a:avLst/>
          </a:prstGeom>
          <a:noFill/>
        </p:spPr>
        <p:txBody>
          <a:bodyPr wrap="square" lIns="0" rIns="0" tIns="0" bIns="0" anchor="t">
            <a:spAutoFit/>
          </a:bodyPr>
          <a:lstStyle/>
          <a:p>
            <a:pPr algn="r"/>
            <a:r>
              <a:rPr sz="1000" b="0" i="0">
                <a:solidFill>
                  <a:srgbClr val="6B7A90"/>
                </a:solidFill>
                <a:latin typeface="Calibri"/>
              </a:rPr>
              <a:t>13 / 14</a:t>
            </a:r>
          </a:p>
        </p:txBody>
      </p:sp>
      <p:sp>
        <p:nvSpPr>
          <p:cNvPr id="8" name="Rectangle 7"/>
          <p:cNvSpPr/>
          <p:nvPr/>
        </p:nvSpPr>
        <p:spPr>
          <a:xfrm>
            <a:off x="548640" y="1783080"/>
            <a:ext cx="5577840" cy="2057400"/>
          </a:xfrm>
          <a:prstGeom prst="rect">
            <a:avLst/>
          </a:prstGeom>
          <a:solidFill>
            <a:srgbClr val="142A4A"/>
          </a:solidFill>
          <a:ln w="12700">
            <a:solidFill>
              <a:srgbClr val="F2A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74520"/>
            <a:ext cx="731520" cy="640080"/>
          </a:xfrm>
          <a:prstGeom prst="rect">
            <a:avLst/>
          </a:prstGeom>
          <a:noFill/>
        </p:spPr>
        <p:txBody>
          <a:bodyPr wrap="square" lIns="0" rIns="0" tIns="0" bIns="0" anchor="t">
            <a:spAutoFit/>
          </a:bodyPr>
          <a:lstStyle/>
          <a:p>
            <a:pPr algn="l"/>
            <a:r>
              <a:rPr sz="3600" b="1" i="0">
                <a:solidFill>
                  <a:srgbClr val="F2A63B"/>
                </a:solidFill>
                <a:latin typeface="Calibri"/>
              </a:rPr>
              <a:t>1</a:t>
            </a:r>
          </a:p>
        </p:txBody>
      </p:sp>
      <p:sp>
        <p:nvSpPr>
          <p:cNvPr id="10" name="TextBox 9"/>
          <p:cNvSpPr txBox="1"/>
          <p:nvPr/>
        </p:nvSpPr>
        <p:spPr>
          <a:xfrm>
            <a:off x="1527048" y="1920240"/>
            <a:ext cx="4398264" cy="411480"/>
          </a:xfrm>
          <a:prstGeom prst="rect">
            <a:avLst/>
          </a:prstGeom>
          <a:noFill/>
        </p:spPr>
        <p:txBody>
          <a:bodyPr wrap="square" lIns="0" rIns="0" tIns="0" bIns="0" anchor="t">
            <a:spAutoFit/>
          </a:bodyPr>
          <a:lstStyle/>
          <a:p>
            <a:pPr algn="l"/>
            <a:r>
              <a:rPr sz="1500" b="1" i="0">
                <a:solidFill>
                  <a:srgbClr val="F4F6FB"/>
                </a:solidFill>
                <a:latin typeface="Calibri"/>
              </a:rPr>
              <a:t>Es accesible</a:t>
            </a:r>
          </a:p>
        </p:txBody>
      </p:sp>
      <p:sp>
        <p:nvSpPr>
          <p:cNvPr id="11" name="TextBox 10"/>
          <p:cNvSpPr txBox="1"/>
          <p:nvPr/>
        </p:nvSpPr>
        <p:spPr>
          <a:xfrm>
            <a:off x="749808" y="2468880"/>
            <a:ext cx="5175504" cy="1280160"/>
          </a:xfrm>
          <a:prstGeom prst="rect">
            <a:avLst/>
          </a:prstGeom>
          <a:noFill/>
        </p:spPr>
        <p:txBody>
          <a:bodyPr wrap="square" lIns="0" rIns="0" tIns="0" bIns="0" anchor="t">
            <a:spAutoFit/>
          </a:bodyPr>
          <a:lstStyle/>
          <a:p>
            <a:pPr algn="l"/>
            <a:r>
              <a:rPr sz="1200" b="0" i="0">
                <a:solidFill>
                  <a:srgbClr val="C2CDDE"/>
                </a:solidFill>
                <a:latin typeface="Calibri"/>
              </a:rPr>
              <a:t>Un keylogger funcional se construye con pocas líneas de código y librerías de libre acceso: por eso es tan común en campañas de phishing.</a:t>
            </a:r>
          </a:p>
        </p:txBody>
      </p:sp>
      <p:sp>
        <p:nvSpPr>
          <p:cNvPr id="12" name="Rectangle 11"/>
          <p:cNvSpPr/>
          <p:nvPr/>
        </p:nvSpPr>
        <p:spPr>
          <a:xfrm>
            <a:off x="6263640" y="1783080"/>
            <a:ext cx="5577840" cy="205740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64808" y="1874520"/>
            <a:ext cx="731520" cy="640080"/>
          </a:xfrm>
          <a:prstGeom prst="rect">
            <a:avLst/>
          </a:prstGeom>
          <a:noFill/>
        </p:spPr>
        <p:txBody>
          <a:bodyPr wrap="square" lIns="0" rIns="0" tIns="0" bIns="0" anchor="t">
            <a:spAutoFit/>
          </a:bodyPr>
          <a:lstStyle/>
          <a:p>
            <a:pPr algn="l"/>
            <a:r>
              <a:rPr sz="3600" b="1" i="0">
                <a:solidFill>
                  <a:srgbClr val="F2A63B"/>
                </a:solidFill>
                <a:latin typeface="Calibri"/>
              </a:rPr>
              <a:t>2</a:t>
            </a:r>
          </a:p>
        </p:txBody>
      </p:sp>
      <p:sp>
        <p:nvSpPr>
          <p:cNvPr id="14" name="TextBox 13"/>
          <p:cNvSpPr txBox="1"/>
          <p:nvPr/>
        </p:nvSpPr>
        <p:spPr>
          <a:xfrm>
            <a:off x="7242048" y="1920240"/>
            <a:ext cx="4398264" cy="411480"/>
          </a:xfrm>
          <a:prstGeom prst="rect">
            <a:avLst/>
          </a:prstGeom>
          <a:noFill/>
        </p:spPr>
        <p:txBody>
          <a:bodyPr wrap="square" lIns="0" rIns="0" tIns="0" bIns="0" anchor="t">
            <a:spAutoFit/>
          </a:bodyPr>
          <a:lstStyle/>
          <a:p>
            <a:pPr algn="l"/>
            <a:r>
              <a:rPr sz="1500" b="1" i="0">
                <a:solidFill>
                  <a:srgbClr val="F4F6FB"/>
                </a:solidFill>
                <a:latin typeface="Calibri"/>
              </a:rPr>
              <a:t>Pasa desapercibido</a:t>
            </a:r>
          </a:p>
        </p:txBody>
      </p:sp>
      <p:sp>
        <p:nvSpPr>
          <p:cNvPr id="15" name="TextBox 14"/>
          <p:cNvSpPr txBox="1"/>
          <p:nvPr/>
        </p:nvSpPr>
        <p:spPr>
          <a:xfrm>
            <a:off x="6464808" y="2468880"/>
            <a:ext cx="5175504" cy="1280160"/>
          </a:xfrm>
          <a:prstGeom prst="rect">
            <a:avLst/>
          </a:prstGeom>
          <a:noFill/>
        </p:spPr>
        <p:txBody>
          <a:bodyPr wrap="square" lIns="0" rIns="0" tIns="0" bIns="0" anchor="t">
            <a:spAutoFit/>
          </a:bodyPr>
          <a:lstStyle/>
          <a:p>
            <a:pPr algn="l"/>
            <a:r>
              <a:rPr sz="1200" b="0" i="0">
                <a:solidFill>
                  <a:srgbClr val="C2CDDE"/>
                </a:solidFill>
                <a:latin typeface="Calibri"/>
              </a:rPr>
              <a:t>Usa APIs legítimas del SO (las mismas de los programas de accesibilidad); sin antivirus de comportamiento ni MFA, es difícil detectarlo.</a:t>
            </a:r>
          </a:p>
        </p:txBody>
      </p:sp>
      <p:sp>
        <p:nvSpPr>
          <p:cNvPr id="16" name="Rectangle 15"/>
          <p:cNvSpPr/>
          <p:nvPr/>
        </p:nvSpPr>
        <p:spPr>
          <a:xfrm>
            <a:off x="548640" y="3977640"/>
            <a:ext cx="5577840" cy="2057400"/>
          </a:xfrm>
          <a:prstGeom prst="rect">
            <a:avLst/>
          </a:prstGeom>
          <a:solidFill>
            <a:srgbClr val="142A4A"/>
          </a:solidFill>
          <a:ln w="12700">
            <a:solidFill>
              <a:srgbClr val="3B6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4069080"/>
            <a:ext cx="731520" cy="640080"/>
          </a:xfrm>
          <a:prstGeom prst="rect">
            <a:avLst/>
          </a:prstGeom>
          <a:noFill/>
        </p:spPr>
        <p:txBody>
          <a:bodyPr wrap="square" lIns="0" rIns="0" tIns="0" bIns="0" anchor="t">
            <a:spAutoFit/>
          </a:bodyPr>
          <a:lstStyle/>
          <a:p>
            <a:pPr algn="l"/>
            <a:r>
              <a:rPr sz="3600" b="1" i="0">
                <a:solidFill>
                  <a:srgbClr val="F2A63B"/>
                </a:solidFill>
                <a:latin typeface="Calibri"/>
              </a:rPr>
              <a:t>3</a:t>
            </a:r>
          </a:p>
        </p:txBody>
      </p:sp>
      <p:sp>
        <p:nvSpPr>
          <p:cNvPr id="18" name="TextBox 17"/>
          <p:cNvSpPr txBox="1"/>
          <p:nvPr/>
        </p:nvSpPr>
        <p:spPr>
          <a:xfrm>
            <a:off x="1527048" y="4114800"/>
            <a:ext cx="4398264" cy="411480"/>
          </a:xfrm>
          <a:prstGeom prst="rect">
            <a:avLst/>
          </a:prstGeom>
          <a:noFill/>
        </p:spPr>
        <p:txBody>
          <a:bodyPr wrap="square" lIns="0" rIns="0" tIns="0" bIns="0" anchor="t">
            <a:spAutoFit/>
          </a:bodyPr>
          <a:lstStyle/>
          <a:p>
            <a:pPr algn="l"/>
            <a:r>
              <a:rPr sz="1500" b="1" i="0">
                <a:solidFill>
                  <a:srgbClr val="F4F6FB"/>
                </a:solidFill>
                <a:latin typeface="Calibri"/>
              </a:rPr>
              <a:t>El riesgo es el vector</a:t>
            </a:r>
          </a:p>
        </p:txBody>
      </p:sp>
      <p:sp>
        <p:nvSpPr>
          <p:cNvPr id="19" name="TextBox 18"/>
          <p:cNvSpPr txBox="1"/>
          <p:nvPr/>
        </p:nvSpPr>
        <p:spPr>
          <a:xfrm>
            <a:off x="749808" y="4663440"/>
            <a:ext cx="5175504" cy="1280160"/>
          </a:xfrm>
          <a:prstGeom prst="rect">
            <a:avLst/>
          </a:prstGeom>
          <a:noFill/>
        </p:spPr>
        <p:txBody>
          <a:bodyPr wrap="square" lIns="0" rIns="0" tIns="0" bIns="0" anchor="t">
            <a:spAutoFit/>
          </a:bodyPr>
          <a:lstStyle/>
          <a:p>
            <a:pPr algn="l"/>
            <a:r>
              <a:rPr sz="1200" b="0" i="0">
                <a:solidFill>
                  <a:srgbClr val="C2CDDE"/>
                </a:solidFill>
                <a:latin typeface="Calibri"/>
              </a:rPr>
              <a:t>La mayoría de infecciones depende de la ingeniería social. Capacitar al usuario es más efectivo que cualquier software.</a:t>
            </a:r>
          </a:p>
        </p:txBody>
      </p:sp>
      <p:sp>
        <p:nvSpPr>
          <p:cNvPr id="20" name="Rectangle 19"/>
          <p:cNvSpPr/>
          <p:nvPr/>
        </p:nvSpPr>
        <p:spPr>
          <a:xfrm>
            <a:off x="6263640" y="3977640"/>
            <a:ext cx="5577840" cy="2057400"/>
          </a:xfrm>
          <a:prstGeom prst="rect">
            <a:avLst/>
          </a:prstGeom>
          <a:solidFill>
            <a:srgbClr val="142A4A"/>
          </a:solidFill>
          <a:ln w="12700">
            <a:solidFill>
              <a:srgbClr val="F2A6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4808" y="4069080"/>
            <a:ext cx="731520" cy="640080"/>
          </a:xfrm>
          <a:prstGeom prst="rect">
            <a:avLst/>
          </a:prstGeom>
          <a:noFill/>
        </p:spPr>
        <p:txBody>
          <a:bodyPr wrap="square" lIns="0" rIns="0" tIns="0" bIns="0" anchor="t">
            <a:spAutoFit/>
          </a:bodyPr>
          <a:lstStyle/>
          <a:p>
            <a:pPr algn="l"/>
            <a:r>
              <a:rPr sz="3600" b="1" i="0">
                <a:solidFill>
                  <a:srgbClr val="F2A63B"/>
                </a:solidFill>
                <a:latin typeface="Calibri"/>
              </a:rPr>
              <a:t>4</a:t>
            </a:r>
          </a:p>
        </p:txBody>
      </p:sp>
      <p:sp>
        <p:nvSpPr>
          <p:cNvPr id="22" name="TextBox 21"/>
          <p:cNvSpPr txBox="1"/>
          <p:nvPr/>
        </p:nvSpPr>
        <p:spPr>
          <a:xfrm>
            <a:off x="7242048" y="4114800"/>
            <a:ext cx="4398264" cy="411480"/>
          </a:xfrm>
          <a:prstGeom prst="rect">
            <a:avLst/>
          </a:prstGeom>
          <a:noFill/>
        </p:spPr>
        <p:txBody>
          <a:bodyPr wrap="square" lIns="0" rIns="0" tIns="0" bIns="0" anchor="t">
            <a:spAutoFit/>
          </a:bodyPr>
          <a:lstStyle/>
          <a:p>
            <a:pPr algn="l"/>
            <a:r>
              <a:rPr sz="1500" b="1" i="0">
                <a:solidFill>
                  <a:srgbClr val="F4F6FB"/>
                </a:solidFill>
                <a:latin typeface="Calibri"/>
              </a:rPr>
              <a:t>Conocer para defender</a:t>
            </a:r>
          </a:p>
        </p:txBody>
      </p:sp>
      <p:sp>
        <p:nvSpPr>
          <p:cNvPr id="23" name="TextBox 22"/>
          <p:cNvSpPr txBox="1"/>
          <p:nvPr/>
        </p:nvSpPr>
        <p:spPr>
          <a:xfrm>
            <a:off x="6464808" y="4663440"/>
            <a:ext cx="5175504" cy="1280160"/>
          </a:xfrm>
          <a:prstGeom prst="rect">
            <a:avLst/>
          </a:prstGeom>
          <a:noFill/>
        </p:spPr>
        <p:txBody>
          <a:bodyPr wrap="square" lIns="0" rIns="0" tIns="0" bIns="0" anchor="t">
            <a:spAutoFit/>
          </a:bodyPr>
          <a:lstStyle/>
          <a:p>
            <a:pPr algn="l"/>
            <a:r>
              <a:rPr sz="1200" b="0" i="0">
                <a:solidFill>
                  <a:srgbClr val="C2CDDE"/>
                </a:solidFill>
                <a:latin typeface="Calibri"/>
              </a:rPr>
              <a:t>Entender la amenaza desde el código permite diseñar defensas más efectivas: el objetivo de un profesional en seguridad.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F2A6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0"/>
            <a:ext cx="11155680" cy="1097280"/>
          </a:xfrm>
          <a:prstGeom prst="rect">
            <a:avLst/>
          </a:prstGeom>
          <a:noFill/>
        </p:spPr>
        <p:txBody>
          <a:bodyPr wrap="square" lIns="0" rIns="0" tIns="0" bIns="0" anchor="t">
            <a:spAutoFit/>
          </a:bodyPr>
          <a:lstStyle/>
          <a:p>
            <a:pPr algn="ctr"/>
            <a:r>
              <a:rPr sz="7200" b="1" i="0">
                <a:solidFill>
                  <a:srgbClr val="F4F6FB"/>
                </a:solidFill>
                <a:latin typeface="Calibri"/>
              </a:rPr>
              <a:t>¡Gracias!</a:t>
            </a:r>
          </a:p>
        </p:txBody>
      </p:sp>
      <p:sp>
        <p:nvSpPr>
          <p:cNvPr id="4" name="TextBox 3"/>
          <p:cNvSpPr txBox="1"/>
          <p:nvPr/>
        </p:nvSpPr>
        <p:spPr>
          <a:xfrm>
            <a:off x="548640" y="2651760"/>
            <a:ext cx="11155680" cy="548640"/>
          </a:xfrm>
          <a:prstGeom prst="rect">
            <a:avLst/>
          </a:prstGeom>
          <a:noFill/>
        </p:spPr>
        <p:txBody>
          <a:bodyPr wrap="square" lIns="0" rIns="0" tIns="0" bIns="0" anchor="t">
            <a:spAutoFit/>
          </a:bodyPr>
          <a:lstStyle/>
          <a:p>
            <a:pPr algn="ctr"/>
            <a:r>
              <a:rPr sz="2800" b="0" i="1">
                <a:solidFill>
                  <a:srgbClr val="F2A63B"/>
                </a:solidFill>
                <a:latin typeface="Calibri"/>
              </a:rPr>
              <a:t>¿Preguntas?</a:t>
            </a:r>
          </a:p>
        </p:txBody>
      </p:sp>
      <p:sp>
        <p:nvSpPr>
          <p:cNvPr id="5" name="Rectangle 4"/>
          <p:cNvSpPr/>
          <p:nvPr/>
        </p:nvSpPr>
        <p:spPr>
          <a:xfrm>
            <a:off x="2286000" y="3931920"/>
            <a:ext cx="7589520" cy="1920240"/>
          </a:xfrm>
          <a:prstGeom prst="rect">
            <a:avLst/>
          </a:prstGeom>
          <a:solidFill>
            <a:srgbClr val="14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86000" y="4114800"/>
            <a:ext cx="7589520" cy="365760"/>
          </a:xfrm>
          <a:prstGeom prst="rect">
            <a:avLst/>
          </a:prstGeom>
          <a:noFill/>
        </p:spPr>
        <p:txBody>
          <a:bodyPr wrap="square" lIns="0" rIns="0" tIns="0" bIns="0" anchor="t">
            <a:spAutoFit/>
          </a:bodyPr>
          <a:lstStyle/>
          <a:p>
            <a:pPr algn="ctr"/>
            <a:r>
              <a:rPr sz="1200" b="1" i="0">
                <a:solidFill>
                  <a:srgbClr val="F2A63B"/>
                </a:solidFill>
                <a:latin typeface="Calibri"/>
              </a:rPr>
              <a:t>RECURSOS DEL PROYECTO</a:t>
            </a:r>
          </a:p>
        </p:txBody>
      </p:sp>
      <p:sp>
        <p:nvSpPr>
          <p:cNvPr id="7" name="TextBox 6"/>
          <p:cNvSpPr txBox="1"/>
          <p:nvPr/>
        </p:nvSpPr>
        <p:spPr>
          <a:xfrm>
            <a:off x="2560320" y="4572000"/>
            <a:ext cx="7040880" cy="1188720"/>
          </a:xfrm>
          <a:prstGeom prst="rect">
            <a:avLst/>
          </a:prstGeom>
          <a:noFill/>
        </p:spPr>
        <p:txBody>
          <a:bodyPr wrap="square" anchor="t" lIns="0" rIns="0" tIns="0" bIns="0">
            <a:spAutoFit/>
          </a:bodyPr>
          <a:lstStyle/>
          <a:p>
            <a:pPr algn="ctr">
              <a:lnSpc>
                <a:spcPct val="125000"/>
              </a:lnSpc>
            </a:pPr>
            <a:r>
              <a:rPr sz="1500" b="0" i="0">
                <a:solidFill>
                  <a:srgbClr val="F4F6FB"/>
                </a:solidFill>
                <a:latin typeface="Consolas"/>
              </a:rPr>
              <a:t>Repositorio:  https://github.com/hilde-chile/keylogger-educativo</a:t>
            </a:r>
          </a:p>
          <a:p>
            <a:pPr algn="ctr">
              <a:lnSpc>
                <a:spcPct val="125000"/>
              </a:lnSpc>
              <a:spcBef>
                <a:spcPts val="1000"/>
              </a:spcBef>
            </a:pPr>
            <a:r>
              <a:rPr sz="1300" b="0" i="1">
                <a:solidFill>
                  <a:srgbClr val="C2CDDE"/>
                </a:solidFill>
                <a:latin typeface="Calibri"/>
              </a:rPr>
              <a:t>Video (YouTube, no listado):  [pegar enlace del video]</a:t>
            </a:r>
          </a:p>
        </p:txBody>
      </p:sp>
      <p:sp>
        <p:nvSpPr>
          <p:cNvPr id="8" name="TextBox 7"/>
          <p:cNvSpPr txBox="1"/>
          <p:nvPr/>
        </p:nvSpPr>
        <p:spPr>
          <a:xfrm>
            <a:off x="548640" y="6217920"/>
            <a:ext cx="11155680" cy="365760"/>
          </a:xfrm>
          <a:prstGeom prst="rect">
            <a:avLst/>
          </a:prstGeom>
          <a:noFill/>
        </p:spPr>
        <p:txBody>
          <a:bodyPr wrap="square" lIns="0" rIns="0" tIns="0" bIns="0" anchor="t">
            <a:spAutoFit/>
          </a:bodyPr>
          <a:lstStyle/>
          <a:p>
            <a:pPr algn="ctr"/>
            <a:r>
              <a:rPr sz="1100" b="0" i="0">
                <a:solidFill>
                  <a:srgbClr val="6B7A90"/>
                </a:solidFill>
                <a:latin typeface="Calibri"/>
              </a:rPr>
              <a:t>Universidad Peruana de Ciencias Aplicadas  ·  Curso de Hacking Ético  ·  Trabajo Parcial —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