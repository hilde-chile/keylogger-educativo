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Presentar el tema (keylogger), el curso y los integrantes. Recordar que el trabajo es educativo.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Definir keylogger, diferenciar software vs hardware y mencionar que existen usos legítimos además de los maliciosos.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el flujo: consentimiento, escucha de eventos con pynput, traducción de teclas, contexto (ventana y hora) y guardado local. ESC detiene la captura.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Enumerar herramientas: Python, pynput, ctypes, VS Code, Git/GitHub y el entorno Windows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Describir los vectores de ataque de un keylogger real. Aclarar que en el trabajo NO se implementaron técnicas de propagación, ocultamiento ni exfiltración.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la demostración que se ve en el video de YouTube. Mostrar la terminal, el consentimiento, la captura y el archivo de log resultante.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conclusiones clave: es accesible, pasa desapercibido, el riesgo real está en el vector de ataque, y conocerlo permite defenderse.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Medidas de defensa. Enfatizar MFA (aunque roben la contraseña, no basta) y la concientización del usuario como primera línea.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y turno de preguntas. Tener a mano los enlaces del repositorio y del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4754880" cy="4754880"/>
          </a:xfrm>
          <a:prstGeom prst="ellipse">
            <a:avLst/>
          </a:prstGeom>
          <a:solidFill>
            <a:srgbClr val="00D49A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023360"/>
            <a:ext cx="3291840" cy="3291840"/>
          </a:xfrm>
          <a:prstGeom prst="ellipse">
            <a:avLst/>
          </a:prstGeom>
          <a:solidFill>
            <a:srgbClr val="3DA5D9">
              <a:alpha val="1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7373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0D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HACKING ÉTICO  •  TRABAJO PARCIAL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KEYLOGGER</a:t>
            </a:r>
            <a:endParaRPr lang="en-US" sz="7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4290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94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y análisis de un registrador de teclas con fines educativos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0292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D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 </a:t>
            </a:r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[Nombre 1]   •   [Nombre 2]   •   [Nombre 3]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4864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D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 </a:t>
            </a:r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[Nombre del docente]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0D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·  CONCEPTO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es un Keylogger?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</a:t>
            </a:r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keylogger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(de key = tecla y logger = registrador) es un software o hardware que </a:t>
            </a:r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3DA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y almacena de forma silenciosa las pulsaciones del teclado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textos, contraseñas y cualquier dato ingresado por el usuario.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2336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D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Usos legítimos: </a:t>
            </a:r>
            <a:pPr indent="0" marL="0">
              <a:buNone/>
            </a:pPr>
            <a:r>
              <a:rPr lang="en-US" sz="15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parental, monitoreo corporativo autorizado, investigación y enseñanza en seguridad.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949440" y="1828800"/>
            <a:ext cx="46634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205472" y="2121408"/>
            <a:ext cx="822960" cy="822960"/>
          </a:xfrm>
          <a:prstGeom prst="ellipse">
            <a:avLst/>
          </a:prstGeom>
          <a:solidFill>
            <a:srgbClr val="3DA5D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205472" y="212140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0299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39572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que se engancha a los eventos del sistema operativo.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949440" y="3429000"/>
            <a:ext cx="46634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205472" y="3721608"/>
            <a:ext cx="822960" cy="822960"/>
          </a:xfrm>
          <a:prstGeom prst="ellipse">
            <a:avLst/>
          </a:prstGeom>
          <a:solidFill>
            <a:srgbClr val="00D49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05472" y="372160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36301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399592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Dispositivo físico conectado entre el teclado y el equipo.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Parcial  •  Curso de Hacking Ético  • 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0D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FUNCIONAMIENTO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¿Cómo funciona?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084832" cy="27432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79576" y="2542032"/>
            <a:ext cx="822960" cy="822960"/>
          </a:xfrm>
          <a:prstGeom prst="ellipse">
            <a:avLst/>
          </a:prstGeom>
          <a:solidFill>
            <a:srgbClr val="00D4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79576" y="254203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35204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Consentimiento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76656" y="3977640"/>
            <a:ext cx="1828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 un aviso ético que el usuario debe aceptar.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98064" y="2286000"/>
            <a:ext cx="2084832" cy="27432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29000" y="2542032"/>
            <a:ext cx="822960" cy="822960"/>
          </a:xfrm>
          <a:prstGeom prst="ellipse">
            <a:avLst/>
          </a:prstGeom>
          <a:solidFill>
            <a:srgbClr val="3DA5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254203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907792" y="35204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Escucha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3977640"/>
            <a:ext cx="1828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pynput crea un Listener de eventos on_press / on_release.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47488" y="2286000"/>
            <a:ext cx="2084832" cy="27432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678424" y="2542032"/>
            <a:ext cx="822960" cy="822960"/>
          </a:xfrm>
          <a:prstGeom prst="ellipse">
            <a:avLst/>
          </a:prstGeom>
          <a:solidFill>
            <a:srgbClr val="00D49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78424" y="254203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5157216" y="35204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Traducción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175504" y="3977640"/>
            <a:ext cx="1828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tecla se convierte a texto (normales y especiales).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296912" y="2286000"/>
            <a:ext cx="2084832" cy="27432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927848" y="2542032"/>
            <a:ext cx="822960" cy="822960"/>
          </a:xfrm>
          <a:prstGeom prst="ellipse">
            <a:avLst/>
          </a:prstGeom>
          <a:solidFill>
            <a:srgbClr val="3DA5D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927848" y="254203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7406640" y="35204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424928" y="3977640"/>
            <a:ext cx="1828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ventana activa y marca de tiempo.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546336" y="2286000"/>
            <a:ext cx="2084832" cy="27432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177272" y="2542032"/>
            <a:ext cx="822960" cy="822960"/>
          </a:xfrm>
          <a:prstGeom prst="ellipse">
            <a:avLst/>
          </a:prstGeom>
          <a:solidFill>
            <a:srgbClr val="00D49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177272" y="254203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27" name="Text 25"/>
          <p:cNvSpPr txBox="1"/>
          <p:nvPr/>
        </p:nvSpPr>
        <p:spPr>
          <a:xfrm>
            <a:off x="9656064" y="35204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Guardado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674352" y="3977640"/>
            <a:ext cx="1828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se escribe local en registro_teclas.txt (ESC detiene).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Parcial  •  Curso de Hacking Ético  • 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0D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REQUISITOS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se necesitó?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6616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221992"/>
            <a:ext cx="822960" cy="822960"/>
          </a:xfrm>
          <a:prstGeom prst="roundRect">
            <a:avLst>
              <a:gd name="adj" fmla="val 15556"/>
            </a:avLst>
          </a:prstGeom>
          <a:solidFill>
            <a:srgbClr val="3DA5D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2219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&lt;/&gt;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21671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783080" y="254203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de programación base del proyecto.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70832" y="1965960"/>
            <a:ext cx="356616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9432" y="2221992"/>
            <a:ext cx="822960" cy="822960"/>
          </a:xfrm>
          <a:prstGeom prst="roundRect">
            <a:avLst>
              <a:gd name="adj" fmla="val 15556"/>
            </a:avLst>
          </a:prstGeom>
          <a:solidFill>
            <a:srgbClr val="00D4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22219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&lt;/&gt;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605272" y="21671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pynput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605272" y="254203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Librería que captura los eventos del teclado.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93024" y="1965960"/>
            <a:ext cx="356616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21624" y="2221992"/>
            <a:ext cx="822960" cy="822960"/>
          </a:xfrm>
          <a:prstGeom prst="roundRect">
            <a:avLst>
              <a:gd name="adj" fmla="val 15556"/>
            </a:avLst>
          </a:prstGeom>
          <a:solidFill>
            <a:srgbClr val="3DA5D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21624" y="22219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&lt;/&gt;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427464" y="21671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ctypes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427464" y="254203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la ventana activa en Windows.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566160"/>
            <a:ext cx="356616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822192"/>
            <a:ext cx="822960" cy="822960"/>
          </a:xfrm>
          <a:prstGeom prst="roundRect">
            <a:avLst>
              <a:gd name="adj" fmla="val 15556"/>
            </a:avLst>
          </a:prstGeom>
          <a:solidFill>
            <a:srgbClr val="00D49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38221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&lt;/&gt;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783080" y="37673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783080" y="414223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 usado para el desarrollo.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70832" y="3566160"/>
            <a:ext cx="356616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99432" y="3822192"/>
            <a:ext cx="822960" cy="822960"/>
          </a:xfrm>
          <a:prstGeom prst="roundRect">
            <a:avLst>
              <a:gd name="adj" fmla="val 15556"/>
            </a:avLst>
          </a:prstGeom>
          <a:solidFill>
            <a:srgbClr val="3DA5D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99432" y="38221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&lt;/&gt;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605272" y="37673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605272" y="414223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versiones y alojamiento del código.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193024" y="3566160"/>
            <a:ext cx="356616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421624" y="3822192"/>
            <a:ext cx="822960" cy="822960"/>
          </a:xfrm>
          <a:prstGeom prst="roundRect">
            <a:avLst>
              <a:gd name="adj" fmla="val 15556"/>
            </a:avLst>
          </a:prstGeom>
          <a:solidFill>
            <a:srgbClr val="00D49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421624" y="38221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&lt;/&gt;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427464" y="37673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11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427464" y="414223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 de prueba (también corre en Linux/macOS).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Parcial  •  Curso de Hacking Ético  • 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023360" cy="4023360"/>
          </a:xfrm>
          <a:prstGeom prst="ellipse">
            <a:avLst/>
          </a:prstGeom>
          <a:solidFill>
            <a:srgbClr val="3DA5D9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D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ESCENARIO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Vector de ataque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llegaría a ejecutarse en un escenario real (no implementado en este trabajo):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5394960" cy="1600200"/>
          </a:xfrm>
          <a:prstGeom prst="roundRect">
            <a:avLst>
              <a:gd name="adj" fmla="val 5143"/>
            </a:avLst>
          </a:prstGeom>
          <a:solidFill>
            <a:srgbClr val="1B2A3A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624328"/>
            <a:ext cx="822960" cy="822960"/>
          </a:xfrm>
          <a:prstGeom prst="ellipse">
            <a:avLst/>
          </a:prstGeom>
          <a:solidFill>
            <a:srgbClr val="00D4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62432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1828800" y="25146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2953512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Correos con adjuntos maliciosos disfrazados de documentos o instaladores.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2240280"/>
            <a:ext cx="5394960" cy="1600200"/>
          </a:xfrm>
          <a:prstGeom prst="roundRect">
            <a:avLst>
              <a:gd name="adj" fmla="val 5143"/>
            </a:avLst>
          </a:prstGeom>
          <a:solidFill>
            <a:srgbClr val="1B2A3A"/>
          </a:solidFill>
          <a:ln/>
        </p:spPr>
      </p:sp>
      <p:sp>
        <p:nvSpPr>
          <p:cNvPr id="12" name="Shape 10"/>
          <p:cNvSpPr/>
          <p:nvPr/>
        </p:nvSpPr>
        <p:spPr>
          <a:xfrm>
            <a:off x="6537960" y="2624328"/>
            <a:ext cx="822960" cy="822960"/>
          </a:xfrm>
          <a:prstGeom prst="ellipse">
            <a:avLst/>
          </a:prstGeom>
          <a:solidFill>
            <a:srgbClr val="00D49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62432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543800" y="25146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social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543800" y="2953512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engaña a la víctima para que instale el programa manualmente.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114800"/>
            <a:ext cx="5394960" cy="1600200"/>
          </a:xfrm>
          <a:prstGeom prst="roundRect">
            <a:avLst>
              <a:gd name="adj" fmla="val 5143"/>
            </a:avLst>
          </a:prstGeom>
          <a:solidFill>
            <a:srgbClr val="1B2A3A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4498848"/>
            <a:ext cx="822960" cy="822960"/>
          </a:xfrm>
          <a:prstGeom prst="ellipse">
            <a:avLst/>
          </a:prstGeom>
          <a:solidFill>
            <a:srgbClr val="00D49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449884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1828800" y="43891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malicioso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828800" y="4828032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Dispositivos BadUSB / Rubber Ducky que inyectan el código.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63640" y="4114800"/>
            <a:ext cx="5394960" cy="1600200"/>
          </a:xfrm>
          <a:prstGeom prst="roundRect">
            <a:avLst>
              <a:gd name="adj" fmla="val 5143"/>
            </a:avLst>
          </a:prstGeom>
          <a:solidFill>
            <a:srgbClr val="1B2A3A"/>
          </a:solidFill>
          <a:ln/>
        </p:spPr>
      </p:sp>
      <p:sp>
        <p:nvSpPr>
          <p:cNvPr id="22" name="Shape 20"/>
          <p:cNvSpPr/>
          <p:nvPr/>
        </p:nvSpPr>
        <p:spPr>
          <a:xfrm>
            <a:off x="6537960" y="4498848"/>
            <a:ext cx="822960" cy="822960"/>
          </a:xfrm>
          <a:prstGeom prst="ellipse">
            <a:avLst/>
          </a:prstGeom>
          <a:solidFill>
            <a:srgbClr val="00D49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37960" y="449884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24" name="Text 22"/>
          <p:cNvSpPr txBox="1"/>
          <p:nvPr/>
        </p:nvSpPr>
        <p:spPr>
          <a:xfrm>
            <a:off x="7543800" y="43891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pirata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543800" y="4828032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Instaladores troyanizados y "cracks" de sitios no oficiales.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Parcial  •  Curso de Hacking Ético  •  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0D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DEMO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Demostración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video se muestra la ejecución paso a paso: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86000"/>
            <a:ext cx="5760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Ejecución del script y aviso de consentimiento.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Escritura normal en distintas aplicaciones.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la ventana activa y la hora.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Detención con ESC y revisión del archivo de log.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766560" y="1828800"/>
            <a:ext cx="4846320" cy="3291840"/>
          </a:xfrm>
          <a:prstGeom prst="roundRect">
            <a:avLst>
              <a:gd name="adj" fmla="val 2222"/>
            </a:avLst>
          </a:prstGeom>
          <a:solidFill>
            <a:srgbClr val="0D1B2A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766560" y="1828800"/>
            <a:ext cx="4846320" cy="457200"/>
          </a:xfrm>
          <a:prstGeom prst="roundRect">
            <a:avLst>
              <a:gd name="adj" fmla="val 16000"/>
            </a:avLst>
          </a:prstGeom>
          <a:solidFill>
            <a:srgbClr val="13293D"/>
          </a:solidFill>
          <a:ln/>
        </p:spPr>
      </p:sp>
      <p:sp>
        <p:nvSpPr>
          <p:cNvPr id="8" name="Shape 6"/>
          <p:cNvSpPr/>
          <p:nvPr/>
        </p:nvSpPr>
        <p:spPr>
          <a:xfrm>
            <a:off x="7086600" y="1984248"/>
            <a:ext cx="146304" cy="146304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7360920" y="1984248"/>
            <a:ext cx="146304" cy="146304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7635240" y="1984248"/>
            <a:ext cx="146304" cy="146304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863840" y="1828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keylogger.py — registro_teclas.txt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995160" y="2468880"/>
            <a:ext cx="4389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0D4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[*] Capturando... (ESC para terminar)
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8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[2026-09-28 12:07:11] --- Ventana: Chrome ---
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hola profesor[space]buenas tardes[enter]
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usuario: alumno2026
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DA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[*] Captura detenida. Log guardado.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Parcial  •  Curso de Hacking Ético  •  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0D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CIERRE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44068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377440"/>
            <a:ext cx="777240" cy="777240"/>
          </a:xfrm>
          <a:prstGeom prst="ellipse">
            <a:avLst/>
          </a:prstGeom>
          <a:solidFill>
            <a:srgbClr val="00D4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377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22585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accesible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783080" y="2697480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keylogger funcional se construye con pocas líneas y librerías libres.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965960"/>
            <a:ext cx="544068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2377440"/>
            <a:ext cx="777240" cy="777240"/>
          </a:xfrm>
          <a:prstGeom prst="ellipse">
            <a:avLst/>
          </a:prstGeom>
          <a:solidFill>
            <a:srgbClr val="3DA5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2377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2585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 desapercibido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0" y="2697480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mecanismos legítimos del SO; sin protección adecuada, no se nota.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544068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4251960"/>
            <a:ext cx="777240" cy="777240"/>
          </a:xfrm>
          <a:prstGeom prst="ellipse">
            <a:avLst/>
          </a:prstGeom>
          <a:solidFill>
            <a:srgbClr val="00D49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2519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1783080" y="413308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riesgo es el vector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783080" y="4572000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mayoría de infecciones dependen de la ingeniería social.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840480"/>
            <a:ext cx="544068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4251960"/>
            <a:ext cx="777240" cy="777240"/>
          </a:xfrm>
          <a:prstGeom prst="ellipse">
            <a:avLst/>
          </a:prstGeom>
          <a:solidFill>
            <a:srgbClr val="3DA5D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37960" y="42519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413308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Conocer para defender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4572000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la amenaza permite diseñar mejores defensas.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Parcial  •  Curso de Hacking Ético  •  2026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0D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·  DEFENSA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Recomendaciones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4924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167128"/>
            <a:ext cx="658368" cy="658368"/>
          </a:xfrm>
          <a:prstGeom prst="ellipse">
            <a:avLst/>
          </a:prstGeom>
          <a:solidFill>
            <a:srgbClr val="00D4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21671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1984248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Antivirus / EDR actualizado con análisis de comportamiento.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534924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04672" y="3584448"/>
            <a:ext cx="658368" cy="658368"/>
          </a:xfrm>
          <a:prstGeom prst="ellipse">
            <a:avLst/>
          </a:prstGeom>
          <a:solidFill>
            <a:srgbClr val="00D4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04672" y="35844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401568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abrir adjuntos ni ejecutar software de origen desconocido.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709160"/>
            <a:ext cx="534924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4672" y="5001768"/>
            <a:ext cx="658368" cy="658368"/>
          </a:xfrm>
          <a:prstGeom prst="ellipse">
            <a:avLst/>
          </a:prstGeom>
          <a:solidFill>
            <a:srgbClr val="00D4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500176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645920" y="4818888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Activar autenticación multifactor (MFA).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63640" y="1874520"/>
            <a:ext cx="534924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19672" y="2167128"/>
            <a:ext cx="658368" cy="658368"/>
          </a:xfrm>
          <a:prstGeom prst="ellipse">
            <a:avLst/>
          </a:prstGeom>
          <a:solidFill>
            <a:srgbClr val="00D49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19672" y="21671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7360920" y="1984248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Gestores de contraseñas y teclados virtuales para datos críticos.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263640" y="3291840"/>
            <a:ext cx="534924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19672" y="3584448"/>
            <a:ext cx="658368" cy="658368"/>
          </a:xfrm>
          <a:prstGeom prst="ellipse">
            <a:avLst/>
          </a:prstGeom>
          <a:solidFill>
            <a:srgbClr val="00D49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19672" y="35844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7360920" y="3401568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Monitorear procesos y conexiones de red inusuales.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63640" y="4709160"/>
            <a:ext cx="534924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19672" y="5001768"/>
            <a:ext cx="658368" cy="658368"/>
          </a:xfrm>
          <a:prstGeom prst="ellipse">
            <a:avLst/>
          </a:prstGeom>
          <a:solidFill>
            <a:srgbClr val="00D49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19672" y="500176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7360920" y="4818888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privilegio, actualizaciones y concientización del usuario.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Parcial  •  Curso de Hacking Ético  •  2026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114800"/>
            <a:ext cx="4572000" cy="4572000"/>
          </a:xfrm>
          <a:prstGeom prst="ellipse">
            <a:avLst/>
          </a:prstGeom>
          <a:solidFill>
            <a:srgbClr val="00D49A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1645920"/>
            <a:ext cx="4206240" cy="4206240"/>
          </a:xfrm>
          <a:prstGeom prst="ellipse">
            <a:avLst/>
          </a:prstGeom>
          <a:solidFill>
            <a:srgbClr val="3DA5D9">
              <a:alpha val="1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¡Gracias!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32004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00D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2976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 </a:t>
            </a:r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github.com/USUARIO/keylogger-educativo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48006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(YouTube, privado):  </a:t>
            </a:r>
            <a:pPr indent="0" marL="0">
              <a:buNone/>
            </a:pPr>
            <a:r>
              <a:rPr lang="en-US" sz="1600" dirty="0">
                <a:solidFill>
                  <a:srgbClr val="94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[pegar enlace del video]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2026-09-28T17:13:27Z</dcterms:created>
  <dcterms:modified xsi:type="dcterms:W3CDTF">2026-09-28T17:13:27Z</dcterms:modified>
</cp:coreProperties>
</file>